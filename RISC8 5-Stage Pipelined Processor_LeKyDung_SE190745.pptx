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Le Ky Dung, student ID SE190745. Today I will present my project: the design and verification of an 8-bit RISC processor with a five-stage pipeline. I wrote it in Verilog, simulated it, and implemented it for an Artix-7 FPGA in Vivado 2026.1.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key numbers. The processor has five pipeline stages and sixteen instructions. Every instruction is sixteen bits long. On my test program it reaches a CPI of 1.5, which means on average one and a half clock cycles per instruction. After implementation it meets the 100 megahertz target with 1.747 nanoseconds to spare, so it could run at about 121 megahertz.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processor splits every instruction into five stages: IF fetches the instruction, ID decodes it and reads the registers, EX does the calculation in the ALU, MEM accesses data memory, and WB writes the result back. Like an assembly line, while one instruction is in EX, the next one is in ID and the one after that is in IF. Each instruction still takes five cycles, but after the pipeline is full, one instruction finishes every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processor has sixteen instructions: arithmetic and logic, shifts, load immediate, load and store, jump, two conditional branches and halt. Every instruction is sixteen bits and the first four bits are the opcode. For example, 0x823C: the opcode is 8, which is LDI; the next three bits select register R1; and the last eight bits are the constant 0x3C. So this instruction loads 0x3C into R1.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datapath. From left to right: the PC and instruction memory in IF; the control unit and register file in ID; the forwarding multiplexers and the ALU in EX; the data memory in MEM; and the write-back multiplexer in WB. The grey bars are the four pipeline registers between the stages. The red lines are the forwarding paths, the blue dashed line is the branch target going back to the PC, and the hazard unit at the bottom controls forwarding and stalling.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is written in Verilog-2001 as seven modules. Each module is one part of the processor. The top module, risc8_5stage_core, contains the program counter, the four pipeline registers, the flags and the branch logic, and connects the other six modules together. The hazard unit is the most interesting part, and I will explain it in the next three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hazard is the data hazard. Here, AND needs R1 and R2, but the two LDI instructions before it have not written their results into the register file yet. Instead of waiting, the hazard unit forwards the result directly: from the EX/MEM register if the producer is one instruction back, or from MEM/WB if it is two back. Three back is handled by the register file, which returns the value being written in the same cycle. You can see it in the trace: in cycle 5, fwdA is 2 and fwdB is 1, exactly as expected, and there is no stall.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Forwarding cannot solve every case. A load gets its data from memory only at the end of the MEM stage, but the next instruction needs it at the start of EX. So the hazard unit stalls for exactly one cycle: the PC and the IF/ID register keep their values, and a bubble, which is an empty instruction, goes into the pipeline. One cycle later the loaded value is in MEM/WB and can be forwarded. In the trace you can see stall equals 1 in cycle 45, and the PC stays at 0x18 for one extra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hazard is the control hazard. A branch is decided in the EX stage, but by then the processor has already fetched the next two instructions. If the branch is taken, these two are wrong, so they are flushed: the valid bit is cleared and they become bubbles, and the PC jumps to the target. A taken branch costs two cycles; a branch that is not taken costs nothing. In the test program this happens six times. The wrong-path instructions would have changed R7 and R6, and the final values prove they never executed.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verify the design I wrote a self-checking testbench and a 26-line test program that triggers every hazard: forwarding, the load-use stall, a taken BZ, a loop with BNZ, and a JMP. When the processor halts, the testbench compares the registers, one memory location and the flags with the expected values. All nine checks pass, and the simulation ends at 526 nanoseconds with ALL TESTS PASSED. R3, R6 and R7 are especially important: if the flush did not work, the wrong-path instructions would have changed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waveform from the Vivado simulator. Reset is high for the first two cycles, then the PC starts counting and jumps back several times during the loop. The testbench counters show the hazards: n_flush goes up from zero to six, once for every taken branch; n_stall becomes one near the end, for the load-use case; and errors stays at zero. Finally, halted goes high when the HLT instruction reaches the last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program executes 34 instructions in 51 cycles, so the CPI is 1.5. I can explain every extra cycle: four cycles to fill the pipeline at the start, one stall for the load-use case, and two cycles for each of the six taken branches. 34 plus 4 plus 1 plus 12 equals 51. For comparison, a non-pipelined design that needs five cycles per instruction would take 170 cycles, so the pipeline is about 3.3 times faster at the same clock. On longer programs the fill cost disappears and the CPI gets closer to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simulation I ran synthesis and implementation in Vivado for the Artix-7 xc7a35t chip. The processor uses only 240 lookup tables and 186 flip-flops, about one percent of the chip, and no block RAM or DSP blocks. The data memory is built from LUT-RAM. With a 100 megahertz clock constraint, the worst setup slack is plus 1.747 nanoseconds and the hold slack is also positive, so timing is met. The longest path is about 8.25 nanoseconds, which means the core could run at roughly 121 megahertz. Vivado estimates 0.084 watts total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I designed a working five-stage pipelined processor with sixteen instructions in Verilog. All data and control hazards are handled in hardware with forwarding, a one-cycle stall and a two-cycle flush. The self-checking testbench passed all nine checks with a CPI of 1.5, and the design meets timing at 100 megahertz using about one percent of the FPGA. In the future, I would like to reduce the branch penalty, add subroutine calls and I/O, load programs from a file, and test the processor on a real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I am happy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6F2"/>
        </a:solid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02361"/>
            <a:ext cx="10566400" cy="467360"/>
          </a:xfrm>
          <a:prstGeom prst="rect">
            <a:avLst/>
          </a:prstGeom>
          <a:noFill/>
        </p:spPr>
        <p:txBody>
          <a:bodyPr wrap="square" lIns="0" tIns="0" rIns="0" bIns="0" rtlCol="0" anchor="t"/>
          <a:lstStyle>
            <a:lvl1pPr marL="0" indent="0" algn="l">
              <a:lnSpc>
                <a:spcPct val="115000"/>
              </a:lnSpc>
              <a:buNone/>
              <a:defRPr lang="en-US" sz="3200" dirty="0">
                <a:solidFill>
                  <a:srgbClr val="13213A"/>
                </a:solidFill>
                <a:latin typeface="Arial" panose="020B0604020202020204" pitchFamily="34" charset="0"/>
                <a:ea typeface="Arial" panose="020B0604020202020204" pitchFamily="34" charset="-122"/>
                <a:cs typeface="Arial" panose="020B0604020202020204" pitchFamily="34" charset="-120"/>
              </a:defRPr>
            </a:lvl1pPr>
          </a:lstStyle>
          <a:p>
            <a:pPr marL="0" indent="0" algn="l">
              <a:lnSpc>
                <a:spcPct val="115000"/>
              </a:lnSpc>
              <a:buNone/>
            </a:pPr>
            <a:endParaRPr lang="en-US" sz="3200" dirty="0"/>
          </a:p>
        </p:txBody>
      </p:sp>
      <p:sp>
        <p:nvSpPr>
          <p:cNvPr id="3" name="Text Placeholder 2"/>
          <p:cNvSpPr/>
          <p:nvPr>
            <p:ph type="body" idx="101"/>
          </p:nvPr>
        </p:nvSpPr>
        <p:spPr>
          <a:xfrm>
            <a:off x="812800" y="1874521"/>
            <a:ext cx="10566400" cy="4170679"/>
          </a:xfrm>
          <a:prstGeom prst="rect">
            <a:avLst/>
          </a:prstGeom>
          <a:noFill/>
        </p:spPr>
        <p:txBody>
          <a:bodyPr wrap="square" lIns="0" tIns="0" rIns="0" bIns="0" rtlCol="0" anchor="t"/>
          <a:lstStyle>
            <a:lvl1pPr marL="0" indent="0" algn="l">
              <a:lnSpc>
                <a:spcPct val="140000"/>
              </a:lnSpc>
              <a:buNone/>
              <a:defRPr lang="en-US" sz="1600" dirty="0">
                <a:solidFill>
                  <a:srgbClr val="13213A"/>
                </a:solidFill>
                <a:latin typeface="Arial" panose="020B0604020202020204" pitchFamily="34" charset="0"/>
                <a:ea typeface="Arial" panose="020B0604020202020204" pitchFamily="34" charset="-122"/>
                <a:cs typeface="Arial" panose="020B0604020202020204"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6F2"/>
        </a:solid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02361"/>
            <a:ext cx="10566400" cy="467360"/>
          </a:xfrm>
          <a:prstGeom prst="rect">
            <a:avLst/>
          </a:prstGeom>
          <a:noFill/>
        </p:spPr>
        <p:txBody>
          <a:bodyPr wrap="square" lIns="0" tIns="0" rIns="0" bIns="0" rtlCol="0" anchor="t"/>
          <a:lstStyle>
            <a:lvl1pPr marL="0" indent="0" algn="l">
              <a:lnSpc>
                <a:spcPct val="115000"/>
              </a:lnSpc>
              <a:buNone/>
              <a:defRPr lang="en-US" sz="3200" dirty="0">
                <a:solidFill>
                  <a:srgbClr val="13213A"/>
                </a:solidFill>
                <a:latin typeface="Arial" panose="020B0604020202020204" pitchFamily="34" charset="0"/>
                <a:ea typeface="Arial" panose="020B0604020202020204" pitchFamily="34" charset="-122"/>
                <a:cs typeface="Arial" panose="020B0604020202020204" pitchFamily="34" charset="-120"/>
              </a:defRPr>
            </a:lvl1pPr>
          </a:lstStyle>
          <a:p>
            <a:pPr marL="0" indent="0" algn="l">
              <a:lnSpc>
                <a:spcPct val="115000"/>
              </a:lnSpc>
              <a:buNone/>
            </a:pPr>
            <a:endParaRPr lang="en-US" sz="3200" dirty="0"/>
          </a:p>
        </p:txBody>
      </p:sp>
      <p:sp>
        <p:nvSpPr>
          <p:cNvPr id="3" name="Text Placeholder 2"/>
          <p:cNvSpPr/>
          <p:nvPr>
            <p:ph type="body" idx="101"/>
          </p:nvPr>
        </p:nvSpPr>
        <p:spPr>
          <a:xfrm>
            <a:off x="812800" y="1874521"/>
            <a:ext cx="10566400" cy="4170679"/>
          </a:xfrm>
          <a:prstGeom prst="rect">
            <a:avLst/>
          </a:prstGeom>
          <a:noFill/>
        </p:spPr>
        <p:txBody>
          <a:bodyPr wrap="square" lIns="0" tIns="0" rIns="0" bIns="0" rtlCol="0" anchor="t"/>
          <a:lstStyle>
            <a:lvl1pPr marL="0" indent="0" algn="l">
              <a:lnSpc>
                <a:spcPct val="140000"/>
              </a:lnSpc>
              <a:buNone/>
              <a:defRPr lang="en-US" sz="1600" dirty="0">
                <a:solidFill>
                  <a:srgbClr val="13213A"/>
                </a:solidFill>
                <a:latin typeface="Arial" panose="020B0604020202020204" pitchFamily="34" charset="0"/>
                <a:ea typeface="Arial" panose="020B0604020202020204" pitchFamily="34" charset="-122"/>
                <a:cs typeface="Arial" panose="020B0604020202020204"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213A"/>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07A1F"/>
          </a:solidFill>
        </p:spPr>
      </p:sp>
      <p:sp>
        <p:nvSpPr>
          <p:cNvPr id="3" name="Text 1"/>
          <p:cNvSpPr/>
          <p:nvPr/>
        </p:nvSpPr>
        <p:spPr>
          <a:xfrm>
            <a:off x="812800" y="812800"/>
            <a:ext cx="10883392" cy="274320"/>
          </a:xfrm>
          <a:prstGeom prst="rect">
            <a:avLst/>
          </a:prstGeom>
          <a:noFill/>
        </p:spPr>
        <p:txBody>
          <a:bodyPr wrap="square" lIns="0" tIns="0" rIns="0" bIns="0" rtlCol="0" anchor="t">
            <a:normAutofit/>
          </a:bodyPr>
          <a:lstStyle/>
          <a:p>
            <a:pPr marL="0" indent="0" algn="l">
              <a:lnSpc>
                <a:spcPts val="1960"/>
              </a:lnSpc>
              <a:buNone/>
            </a:pPr>
            <a:r>
              <a:rPr lang="en-US" sz="1400" b="1" kern="0" spc="200" dirty="0">
                <a:solidFill>
                  <a:srgbClr val="F2A65A"/>
                </a:solidFill>
                <a:latin typeface="Arial" panose="020B0604020202020204" pitchFamily="34" charset="0"/>
                <a:ea typeface="Arial" panose="020B0604020202020204" pitchFamily="34" charset="-122"/>
                <a:cs typeface="Arial" panose="020B0604020202020204" pitchFamily="34" charset="-120"/>
              </a:rPr>
              <a:t>PROJECT PRESENTATION</a:t>
            </a:r>
            <a:endParaRPr lang="en-US" sz="1400" dirty="0"/>
          </a:p>
        </p:txBody>
      </p:sp>
      <p:sp>
        <p:nvSpPr>
          <p:cNvPr id="4" name="Text 2"/>
          <p:cNvSpPr/>
          <p:nvPr>
            <p:ph type="title"/>
          </p:nvPr>
        </p:nvSpPr>
        <p:spPr>
          <a:xfrm>
            <a:off x="812800" y="1264920"/>
            <a:ext cx="10883392" cy="1366520"/>
          </a:xfrm>
          <a:prstGeom prst="rect">
            <a:avLst/>
          </a:prstGeom>
          <a:noFill/>
        </p:spPr>
        <p:txBody>
          <a:bodyPr wrap="square" lIns="0" tIns="0" rIns="0" bIns="0" rtlCol="0" anchor="t">
            <a:normAutofit/>
          </a:bodyPr>
          <a:lstStyle/>
          <a:p>
            <a:pPr marL="0" indent="0" algn="l">
              <a:lnSpc>
                <a:spcPts val="5280"/>
              </a:lnSpc>
              <a:buNone/>
            </a:pPr>
            <a:r>
              <a:rPr lang="en-US" sz="4800" b="1" i="0" dirty="0">
                <a:solidFill>
                  <a:srgbClr val="F5F6F2"/>
                </a:solidFill>
                <a:latin typeface="Arial" panose="020B0604020202020204" pitchFamily="34" charset="0"/>
                <a:ea typeface="Arial" panose="020B0604020202020204" pitchFamily="34" charset="-122"/>
                <a:cs typeface="Arial" panose="020B0604020202020204" pitchFamily="34" charset="-120"/>
              </a:rPr>
              <a:t>Design and Verification of an 8-bit 5-Stage Pipelined RISC Processor</a:t>
            </a:r>
            <a:endParaRPr lang="en-US" sz="4800" dirty="0"/>
          </a:p>
        </p:txBody>
      </p:sp>
      <p:sp>
        <p:nvSpPr>
          <p:cNvPr id="5" name="Text 3"/>
          <p:cNvSpPr/>
          <p:nvPr/>
        </p:nvSpPr>
        <p:spPr>
          <a:xfrm>
            <a:off x="812800" y="2809240"/>
            <a:ext cx="10883392" cy="345440"/>
          </a:xfrm>
          <a:prstGeom prst="rect">
            <a:avLst/>
          </a:prstGeom>
          <a:noFill/>
        </p:spPr>
        <p:txBody>
          <a:bodyPr wrap="square" lIns="0" tIns="0" rIns="0" bIns="0" rtlCol="0" anchor="t">
            <a:normAutofit/>
          </a:bodyPr>
          <a:lstStyle/>
          <a:p>
            <a:pPr marL="0" indent="0" algn="l">
              <a:lnSpc>
                <a:spcPts val="2520"/>
              </a:lnSpc>
              <a:buNone/>
            </a:pPr>
            <a:r>
              <a:rPr lang="en-US" sz="1800" dirty="0">
                <a:solidFill>
                  <a:srgbClr val="BFCBDA"/>
                </a:solidFill>
                <a:latin typeface="Arial" panose="020B0604020202020204" pitchFamily="34" charset="0"/>
                <a:ea typeface="Arial" panose="020B0604020202020204" pitchFamily="34" charset="-122"/>
                <a:cs typeface="Arial" panose="020B0604020202020204" pitchFamily="34" charset="-120"/>
              </a:rPr>
              <a:t>Verilog HDL · forwarding, stall and flush · AMD Vivado 2026.1 · Artix-7 FPGA</a:t>
            </a:r>
            <a:endParaRPr lang="en-US" sz="1800" dirty="0"/>
          </a:p>
        </p:txBody>
      </p:sp>
      <p:sp>
        <p:nvSpPr>
          <p:cNvPr id="6" name="Text 4"/>
          <p:cNvSpPr/>
          <p:nvPr/>
        </p:nvSpPr>
        <p:spPr>
          <a:xfrm>
            <a:off x="812800" y="5425440"/>
            <a:ext cx="1462008" cy="238760"/>
          </a:xfrm>
          <a:prstGeom prst="rect">
            <a:avLst/>
          </a:prstGeom>
          <a:noFill/>
        </p:spPr>
        <p:txBody>
          <a:bodyPr wrap="square" lIns="0" tIns="0" rIns="0" bIns="0" rtlCol="0" anchor="t">
            <a:normAutofit/>
          </a:bodyPr>
          <a:lstStyle/>
          <a:p>
            <a:pPr marL="0" indent="0" algn="l">
              <a:lnSpc>
                <a:spcPts val="1680"/>
              </a:lnSpc>
              <a:buNone/>
            </a:pPr>
            <a:r>
              <a:rPr lang="en-US" sz="1200" kern="0" spc="100" dirty="0">
                <a:solidFill>
                  <a:srgbClr val="8FA1B8"/>
                </a:solidFill>
                <a:latin typeface="Arial" panose="020B0604020202020204" pitchFamily="34" charset="0"/>
                <a:ea typeface="Arial" panose="020B0604020202020204" pitchFamily="34" charset="-122"/>
                <a:cs typeface="Arial" panose="020B0604020202020204" pitchFamily="34" charset="-120"/>
              </a:rPr>
              <a:t>STUDENT</a:t>
            </a:r>
            <a:endParaRPr lang="en-US" sz="1200" dirty="0"/>
          </a:p>
        </p:txBody>
      </p:sp>
      <p:sp>
        <p:nvSpPr>
          <p:cNvPr id="7" name="Text 5"/>
          <p:cNvSpPr/>
          <p:nvPr/>
        </p:nvSpPr>
        <p:spPr>
          <a:xfrm>
            <a:off x="812800" y="5689600"/>
            <a:ext cx="1693450" cy="381000"/>
          </a:xfrm>
          <a:prstGeom prst="rect">
            <a:avLst/>
          </a:prstGeom>
          <a:noFill/>
        </p:spPr>
        <p:txBody>
          <a:bodyPr wrap="square" lIns="0" tIns="0" rIns="0" bIns="0" rtlCol="0" anchor="t">
            <a:normAutofit/>
          </a:bodyPr>
          <a:lstStyle/>
          <a:p>
            <a:pPr marL="0" indent="0" algn="l">
              <a:lnSpc>
                <a:spcPts val="2800"/>
              </a:lnSpc>
              <a:buNone/>
            </a:pPr>
            <a:r>
              <a:rPr lang="en-US" sz="2000" b="1" dirty="0">
                <a:solidFill>
                  <a:srgbClr val="F5F6F2"/>
                </a:solidFill>
                <a:latin typeface="Arial" panose="020B0604020202020204" pitchFamily="34" charset="0"/>
                <a:ea typeface="Arial" panose="020B0604020202020204" pitchFamily="34" charset="-122"/>
                <a:cs typeface="Arial" panose="020B0604020202020204" pitchFamily="34" charset="-120"/>
              </a:rPr>
              <a:t>Lê Kỳ Dũng</a:t>
            </a:r>
            <a:endParaRPr lang="en-US" sz="2000" dirty="0"/>
          </a:p>
        </p:txBody>
      </p:sp>
      <p:sp>
        <p:nvSpPr>
          <p:cNvPr id="8" name="Text 6"/>
          <p:cNvSpPr/>
          <p:nvPr/>
        </p:nvSpPr>
        <p:spPr>
          <a:xfrm>
            <a:off x="2833608" y="5425440"/>
            <a:ext cx="1270238" cy="238760"/>
          </a:xfrm>
          <a:prstGeom prst="rect">
            <a:avLst/>
          </a:prstGeom>
          <a:noFill/>
        </p:spPr>
        <p:txBody>
          <a:bodyPr wrap="square" lIns="0" tIns="0" rIns="0" bIns="0" rtlCol="0" anchor="t">
            <a:normAutofit/>
          </a:bodyPr>
          <a:lstStyle/>
          <a:p>
            <a:pPr marL="0" indent="0" algn="l">
              <a:lnSpc>
                <a:spcPts val="1680"/>
              </a:lnSpc>
              <a:buNone/>
            </a:pPr>
            <a:r>
              <a:rPr lang="en-US" sz="1200" kern="0" spc="100" dirty="0">
                <a:solidFill>
                  <a:srgbClr val="8FA1B8"/>
                </a:solidFill>
                <a:latin typeface="Arial" panose="020B0604020202020204" pitchFamily="34" charset="0"/>
                <a:ea typeface="Arial" panose="020B0604020202020204" pitchFamily="34" charset="-122"/>
                <a:cs typeface="Arial" panose="020B0604020202020204" pitchFamily="34" charset="-120"/>
              </a:rPr>
              <a:t>STUDENT ID</a:t>
            </a:r>
            <a:endParaRPr lang="en-US" sz="1200" dirty="0"/>
          </a:p>
        </p:txBody>
      </p:sp>
      <p:sp>
        <p:nvSpPr>
          <p:cNvPr id="9" name="Text 7"/>
          <p:cNvSpPr/>
          <p:nvPr/>
        </p:nvSpPr>
        <p:spPr>
          <a:xfrm>
            <a:off x="2833608" y="5689600"/>
            <a:ext cx="1463326" cy="381000"/>
          </a:xfrm>
          <a:prstGeom prst="rect">
            <a:avLst/>
          </a:prstGeom>
          <a:noFill/>
        </p:spPr>
        <p:txBody>
          <a:bodyPr wrap="square" lIns="0" tIns="0" rIns="0" bIns="0" rtlCol="0" anchor="t">
            <a:normAutofit/>
          </a:bodyPr>
          <a:lstStyle/>
          <a:p>
            <a:pPr marL="0" indent="0" algn="l">
              <a:lnSpc>
                <a:spcPts val="2800"/>
              </a:lnSpc>
              <a:buNone/>
            </a:pPr>
            <a:r>
              <a:rPr lang="en-US" sz="2000" b="1" dirty="0">
                <a:solidFill>
                  <a:srgbClr val="F5F6F2"/>
                </a:solidFill>
                <a:latin typeface="Courier New" panose="02070309020205020404" pitchFamily="49" charset="0"/>
                <a:ea typeface="Courier New" panose="02070309020205020404" pitchFamily="49" charset="-122"/>
                <a:cs typeface="Courier New" panose="02070309020205020404" pitchFamily="49" charset="-120"/>
              </a:rPr>
              <a:t>SE190745</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A9520B"/>
                </a:solidFill>
                <a:latin typeface="Arial" panose="020B0604020202020204" pitchFamily="34" charset="0"/>
                <a:ea typeface="Arial" panose="020B0604020202020204" pitchFamily="34" charset="-122"/>
                <a:cs typeface="Arial" panose="020B0604020202020204" pitchFamily="34" charset="-120"/>
              </a:rPr>
              <a:t>OVERVIEW</a:t>
            </a:r>
            <a:endParaRPr lang="en-US" sz="1200" dirty="0"/>
          </a:p>
        </p:txBody>
      </p:sp>
      <p:sp>
        <p:nvSpPr>
          <p:cNvPr id="3" name="Text 1"/>
          <p:cNvSpPr/>
          <p:nvPr>
            <p:ph type="title"/>
          </p:nvPr>
        </p:nvSpPr>
        <p:spPr>
          <a:xfrm>
            <a:off x="812800" y="1102360"/>
            <a:ext cx="10883392" cy="492760"/>
          </a:xfrm>
          <a:prstGeom prst="rect">
            <a:avLst/>
          </a:prstGeom>
          <a:noFill/>
        </p:spPr>
        <p:txBody>
          <a:bodyPr wrap="square" lIns="0" tIns="0" rIns="0" bIns="0" rtlCol="0" anchor="t">
            <a:normAutofit/>
          </a:bodyPr>
          <a:lstStyle/>
          <a:p>
            <a:pPr marL="0" indent="0" algn="l">
              <a:lnSpc>
                <a:spcPts val="3680"/>
              </a:lnSpc>
              <a:buNone/>
            </a:pPr>
            <a:r>
              <a:rPr lang="en-US" sz="3200" b="1" i="0" dirty="0">
                <a:solidFill>
                  <a:srgbClr val="13213A"/>
                </a:solidFill>
                <a:latin typeface="Arial" panose="020B0604020202020204" pitchFamily="34" charset="0"/>
                <a:ea typeface="Arial" panose="020B0604020202020204" pitchFamily="34" charset="-122"/>
                <a:cs typeface="Arial" panose="020B0604020202020204" pitchFamily="34" charset="-120"/>
              </a:rPr>
              <a:t>The project at a glance</a:t>
            </a:r>
            <a:endParaRPr lang="en-US" sz="3200" dirty="0"/>
          </a:p>
        </p:txBody>
      </p:sp>
      <p:sp>
        <p:nvSpPr>
          <p:cNvPr id="4" name="Text 2"/>
          <p:cNvSpPr/>
          <p:nvPr/>
        </p:nvSpPr>
        <p:spPr>
          <a:xfrm>
            <a:off x="812800" y="1925320"/>
            <a:ext cx="9810750" cy="665480"/>
          </a:xfrm>
          <a:prstGeom prst="rect">
            <a:avLst/>
          </a:prstGeom>
          <a:noFill/>
        </p:spPr>
        <p:txBody>
          <a:bodyPr wrap="square" lIns="0" tIns="0" rIns="0" bIns="0" rtlCol="0" anchor="t">
            <a:normAutofit/>
          </a:bodyPr>
          <a:lstStyle/>
          <a:p>
            <a:pPr marL="0" indent="0" algn="l">
              <a:lnSpc>
                <a:spcPts val="2520"/>
              </a:lnSpc>
              <a:buNone/>
            </a:pPr>
            <a:r>
              <a:rPr lang="en-US" sz="1800" dirty="0">
                <a:solidFill>
                  <a:srgbClr val="3E4A5C"/>
                </a:solidFill>
                <a:latin typeface="Arial" panose="020B0604020202020204" pitchFamily="34" charset="0"/>
                <a:ea typeface="Arial" panose="020B0604020202020204" pitchFamily="34" charset="-122"/>
                <a:cs typeface="Arial" panose="020B0604020202020204" pitchFamily="34" charset="-120"/>
              </a:rPr>
              <a:t>A small 8-bit processor that runs up to five instructions at once, handles every pipeline hazard in hardware, and fits in about 1% of an Artix-7 FPGA.</a:t>
            </a:r>
            <a:endParaRPr lang="en-US" sz="1800" dirty="0"/>
          </a:p>
        </p:txBody>
      </p:sp>
      <p:sp>
        <p:nvSpPr>
          <p:cNvPr id="5" name="Shape 3"/>
          <p:cNvSpPr/>
          <p:nvPr/>
        </p:nvSpPr>
        <p:spPr>
          <a:xfrm>
            <a:off x="815975" y="2924175"/>
            <a:ext cx="2482850" cy="1944370"/>
          </a:xfrm>
          <a:prstGeom prst="roundRect">
            <a:avLst>
              <a:gd name="adj" fmla="val 3756"/>
            </a:avLst>
          </a:prstGeom>
          <a:solidFill>
            <a:srgbClr val="FFFFFF"/>
          </a:solidFill>
          <a:ln w="6350">
            <a:solidFill>
              <a:srgbClr val="DCE1E8"/>
            </a:solidFill>
            <a:prstDash val="solid"/>
          </a:ln>
        </p:spPr>
      </p:sp>
      <p:sp>
        <p:nvSpPr>
          <p:cNvPr id="6" name="Text 4"/>
          <p:cNvSpPr/>
          <p:nvPr/>
        </p:nvSpPr>
        <p:spPr>
          <a:xfrm>
            <a:off x="1071880" y="3180080"/>
            <a:ext cx="2030171" cy="635000"/>
          </a:xfrm>
          <a:prstGeom prst="rect">
            <a:avLst/>
          </a:prstGeom>
          <a:noFill/>
        </p:spPr>
        <p:txBody>
          <a:bodyPr wrap="square" lIns="0" tIns="0" rIns="0" bIns="0" rtlCol="0" anchor="t">
            <a:normAutofit/>
          </a:bodyPr>
          <a:lstStyle/>
          <a:p>
            <a:pPr marL="0" indent="0" algn="l">
              <a:lnSpc>
                <a:spcPts val="4800"/>
              </a:lnSpc>
              <a:buNone/>
            </a:pPr>
            <a:r>
              <a:rPr lang="en-US" sz="4800" b="1" dirty="0">
                <a:solidFill>
                  <a:srgbClr val="13213A"/>
                </a:solidFill>
                <a:latin typeface="Arial" panose="020B0604020202020204" pitchFamily="34" charset="0"/>
                <a:ea typeface="Arial" panose="020B0604020202020204" pitchFamily="34" charset="-122"/>
                <a:cs typeface="Arial" panose="020B0604020202020204" pitchFamily="34" charset="-120"/>
              </a:rPr>
              <a:t>5</a:t>
            </a:r>
            <a:endParaRPr lang="en-US" sz="4800" dirty="0"/>
          </a:p>
        </p:txBody>
      </p:sp>
      <p:sp>
        <p:nvSpPr>
          <p:cNvPr id="7" name="Text 5"/>
          <p:cNvSpPr/>
          <p:nvPr/>
        </p:nvSpPr>
        <p:spPr>
          <a:xfrm>
            <a:off x="1071880" y="3865880"/>
            <a:ext cx="2030171" cy="52324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3E4A5C"/>
                </a:solidFill>
                <a:latin typeface="Arial" panose="020B0604020202020204" pitchFamily="34" charset="0"/>
                <a:ea typeface="Arial" panose="020B0604020202020204" pitchFamily="34" charset="-122"/>
                <a:cs typeface="Arial" panose="020B0604020202020204" pitchFamily="34" charset="-120"/>
              </a:rPr>
              <a:t>pipeline stages</a:t>
            </a:r>
            <a:endParaRPr lang="en-US" sz="1400" dirty="0"/>
          </a:p>
          <a:p>
            <a:pPr marL="0" indent="0" algn="l">
              <a:lnSpc>
                <a:spcPts val="1960"/>
              </a:lnSpc>
              <a:buNone/>
            </a:pPr>
            <a:r>
              <a:rPr lang="en-US" sz="1400" dirty="0">
                <a:solidFill>
                  <a:srgbClr val="3E4A5C"/>
                </a:solidFill>
                <a:latin typeface="Arial" panose="020B0604020202020204" pitchFamily="34" charset="0"/>
                <a:ea typeface="Arial" panose="020B0604020202020204" pitchFamily="34" charset="-122"/>
                <a:cs typeface="Arial" panose="020B0604020202020204" pitchFamily="34" charset="-120"/>
              </a:rPr>
              <a:t>IF · ID · EX · MEM · WB</a:t>
            </a:r>
            <a:endParaRPr lang="en-US" sz="1400" dirty="0"/>
          </a:p>
        </p:txBody>
      </p:sp>
      <p:sp>
        <p:nvSpPr>
          <p:cNvPr id="8" name="Shape 6"/>
          <p:cNvSpPr/>
          <p:nvPr/>
        </p:nvSpPr>
        <p:spPr>
          <a:xfrm>
            <a:off x="3508375" y="2924175"/>
            <a:ext cx="2482850" cy="1944370"/>
          </a:xfrm>
          <a:prstGeom prst="roundRect">
            <a:avLst>
              <a:gd name="adj" fmla="val 3756"/>
            </a:avLst>
          </a:prstGeom>
          <a:solidFill>
            <a:srgbClr val="FFFFFF"/>
          </a:solidFill>
          <a:ln w="6350">
            <a:solidFill>
              <a:srgbClr val="DCE1E8"/>
            </a:solidFill>
            <a:prstDash val="solid"/>
          </a:ln>
        </p:spPr>
      </p:sp>
      <p:sp>
        <p:nvSpPr>
          <p:cNvPr id="9" name="Text 7"/>
          <p:cNvSpPr/>
          <p:nvPr/>
        </p:nvSpPr>
        <p:spPr>
          <a:xfrm>
            <a:off x="3764280" y="3180080"/>
            <a:ext cx="2030171" cy="635000"/>
          </a:xfrm>
          <a:prstGeom prst="rect">
            <a:avLst/>
          </a:prstGeom>
          <a:noFill/>
        </p:spPr>
        <p:txBody>
          <a:bodyPr wrap="square" lIns="0" tIns="0" rIns="0" bIns="0" rtlCol="0" anchor="t">
            <a:normAutofit/>
          </a:bodyPr>
          <a:lstStyle/>
          <a:p>
            <a:pPr marL="0" indent="0" algn="l">
              <a:lnSpc>
                <a:spcPts val="4800"/>
              </a:lnSpc>
              <a:buNone/>
            </a:pPr>
            <a:r>
              <a:rPr lang="en-US" sz="4800" b="1" dirty="0">
                <a:solidFill>
                  <a:srgbClr val="13213A"/>
                </a:solidFill>
                <a:latin typeface="Arial" panose="020B0604020202020204" pitchFamily="34" charset="0"/>
                <a:ea typeface="Arial" panose="020B0604020202020204" pitchFamily="34" charset="-122"/>
                <a:cs typeface="Arial" panose="020B0604020202020204" pitchFamily="34" charset="-120"/>
              </a:rPr>
              <a:t>16</a:t>
            </a:r>
            <a:endParaRPr lang="en-US" sz="4800" dirty="0"/>
          </a:p>
        </p:txBody>
      </p:sp>
      <p:sp>
        <p:nvSpPr>
          <p:cNvPr id="10" name="Text 8"/>
          <p:cNvSpPr/>
          <p:nvPr/>
        </p:nvSpPr>
        <p:spPr>
          <a:xfrm>
            <a:off x="3764280" y="3865880"/>
            <a:ext cx="2030171" cy="52324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3E4A5C"/>
                </a:solidFill>
                <a:latin typeface="Arial" panose="020B0604020202020204" pitchFamily="34" charset="0"/>
                <a:ea typeface="Arial" panose="020B0604020202020204" pitchFamily="34" charset="-122"/>
                <a:cs typeface="Arial" panose="020B0604020202020204" pitchFamily="34" charset="-120"/>
              </a:rPr>
              <a:t>instructions,</a:t>
            </a:r>
            <a:endParaRPr lang="en-US" sz="1400" dirty="0"/>
          </a:p>
          <a:p>
            <a:pPr marL="0" indent="0" algn="l">
              <a:lnSpc>
                <a:spcPts val="1960"/>
              </a:lnSpc>
              <a:buNone/>
            </a:pPr>
            <a:r>
              <a:rPr lang="en-US" sz="1400" dirty="0">
                <a:solidFill>
                  <a:srgbClr val="3E4A5C"/>
                </a:solidFill>
                <a:latin typeface="Arial" panose="020B0604020202020204" pitchFamily="34" charset="0"/>
                <a:ea typeface="Arial" panose="020B0604020202020204" pitchFamily="34" charset="-122"/>
                <a:cs typeface="Arial" panose="020B0604020202020204" pitchFamily="34" charset="-120"/>
              </a:rPr>
              <a:t>16-bit fixed format</a:t>
            </a:r>
            <a:endParaRPr lang="en-US" sz="1400" dirty="0"/>
          </a:p>
        </p:txBody>
      </p:sp>
      <p:sp>
        <p:nvSpPr>
          <p:cNvPr id="11" name="Shape 9"/>
          <p:cNvSpPr/>
          <p:nvPr/>
        </p:nvSpPr>
        <p:spPr>
          <a:xfrm>
            <a:off x="6200775" y="2924175"/>
            <a:ext cx="2482850" cy="1944370"/>
          </a:xfrm>
          <a:prstGeom prst="roundRect">
            <a:avLst>
              <a:gd name="adj" fmla="val 3756"/>
            </a:avLst>
          </a:prstGeom>
          <a:solidFill>
            <a:srgbClr val="FFFFFF"/>
          </a:solidFill>
          <a:ln w="6350">
            <a:solidFill>
              <a:srgbClr val="DCE1E8"/>
            </a:solidFill>
            <a:prstDash val="solid"/>
          </a:ln>
        </p:spPr>
      </p:sp>
      <p:sp>
        <p:nvSpPr>
          <p:cNvPr id="12" name="Text 10"/>
          <p:cNvSpPr/>
          <p:nvPr/>
        </p:nvSpPr>
        <p:spPr>
          <a:xfrm>
            <a:off x="6456680" y="3180080"/>
            <a:ext cx="2030171" cy="635000"/>
          </a:xfrm>
          <a:prstGeom prst="rect">
            <a:avLst/>
          </a:prstGeom>
          <a:noFill/>
        </p:spPr>
        <p:txBody>
          <a:bodyPr wrap="square" lIns="0" tIns="0" rIns="0" bIns="0" rtlCol="0" anchor="t">
            <a:normAutofit/>
          </a:bodyPr>
          <a:lstStyle/>
          <a:p>
            <a:pPr marL="0" indent="0" algn="l">
              <a:lnSpc>
                <a:spcPts val="4800"/>
              </a:lnSpc>
              <a:buNone/>
            </a:pPr>
            <a:r>
              <a:rPr lang="en-US" sz="4800" b="1" dirty="0">
                <a:solidFill>
                  <a:srgbClr val="13213A"/>
                </a:solidFill>
                <a:latin typeface="Arial" panose="020B0604020202020204" pitchFamily="34" charset="0"/>
                <a:ea typeface="Arial" panose="020B0604020202020204" pitchFamily="34" charset="-122"/>
                <a:cs typeface="Arial" panose="020B0604020202020204" pitchFamily="34" charset="-120"/>
              </a:rPr>
              <a:t>1.50</a:t>
            </a:r>
            <a:endParaRPr lang="en-US" sz="4800" dirty="0"/>
          </a:p>
        </p:txBody>
      </p:sp>
      <p:sp>
        <p:nvSpPr>
          <p:cNvPr id="13" name="Text 11"/>
          <p:cNvSpPr/>
          <p:nvPr/>
        </p:nvSpPr>
        <p:spPr>
          <a:xfrm>
            <a:off x="6456680" y="3865880"/>
            <a:ext cx="2030171" cy="52324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3E4A5C"/>
                </a:solidFill>
                <a:latin typeface="Arial" panose="020B0604020202020204" pitchFamily="34" charset="0"/>
                <a:ea typeface="Arial" panose="020B0604020202020204" pitchFamily="34" charset="-122"/>
                <a:cs typeface="Arial" panose="020B0604020202020204" pitchFamily="34" charset="-120"/>
              </a:rPr>
              <a:t>CPI on the test program</a:t>
            </a:r>
            <a:endParaRPr lang="en-US" sz="1400" dirty="0"/>
          </a:p>
          <a:p>
            <a:pPr marL="0" indent="0" algn="l">
              <a:lnSpc>
                <a:spcPts val="1960"/>
              </a:lnSpc>
              <a:buNone/>
            </a:pPr>
            <a:r>
              <a:rPr lang="en-US" sz="1400" dirty="0">
                <a:solidFill>
                  <a:srgbClr val="3E4A5C"/>
                </a:solidFill>
                <a:latin typeface="Arial" panose="020B0604020202020204" pitchFamily="34" charset="0"/>
                <a:ea typeface="Arial" panose="020B0604020202020204" pitchFamily="34" charset="-122"/>
                <a:cs typeface="Arial" panose="020B0604020202020204" pitchFamily="34" charset="-120"/>
              </a:rPr>
              <a:t>(51 cycles, 34 instr.)</a:t>
            </a:r>
            <a:endParaRPr lang="en-US" sz="1400" dirty="0"/>
          </a:p>
        </p:txBody>
      </p:sp>
      <p:sp>
        <p:nvSpPr>
          <p:cNvPr id="14" name="Shape 12"/>
          <p:cNvSpPr/>
          <p:nvPr/>
        </p:nvSpPr>
        <p:spPr>
          <a:xfrm>
            <a:off x="8893175" y="2924175"/>
            <a:ext cx="2482850" cy="1944370"/>
          </a:xfrm>
          <a:prstGeom prst="roundRect">
            <a:avLst>
              <a:gd name="adj" fmla="val 3756"/>
            </a:avLst>
          </a:prstGeom>
          <a:solidFill>
            <a:srgbClr val="FFFFFF"/>
          </a:solidFill>
          <a:ln w="6350">
            <a:solidFill>
              <a:srgbClr val="DCE1E8"/>
            </a:solidFill>
            <a:prstDash val="solid"/>
          </a:ln>
        </p:spPr>
      </p:sp>
      <p:sp>
        <p:nvSpPr>
          <p:cNvPr id="15" name="Text 13"/>
          <p:cNvSpPr/>
          <p:nvPr/>
        </p:nvSpPr>
        <p:spPr>
          <a:xfrm>
            <a:off x="9149080" y="3180080"/>
            <a:ext cx="2030171" cy="635000"/>
          </a:xfrm>
          <a:prstGeom prst="rect">
            <a:avLst/>
          </a:prstGeom>
          <a:noFill/>
        </p:spPr>
        <p:txBody>
          <a:bodyPr wrap="square" lIns="0" tIns="0" rIns="0" bIns="0" rtlCol="0" anchor="t">
            <a:normAutofit/>
          </a:bodyPr>
          <a:lstStyle/>
          <a:p>
            <a:pPr marL="0" indent="0" algn="l">
              <a:lnSpc>
                <a:spcPts val="4800"/>
              </a:lnSpc>
              <a:buNone/>
            </a:pPr>
            <a:r>
              <a:rPr lang="en-US" sz="4800" b="1" dirty="0">
                <a:solidFill>
                  <a:srgbClr val="13213A"/>
                </a:solidFill>
                <a:latin typeface="Arial" panose="020B0604020202020204" pitchFamily="34" charset="0"/>
                <a:ea typeface="Arial" panose="020B0604020202020204" pitchFamily="34" charset="-122"/>
                <a:cs typeface="Arial" panose="020B0604020202020204" pitchFamily="34" charset="-120"/>
              </a:rPr>
              <a:t>121</a:t>
            </a:r>
            <a:endParaRPr lang="en-US" sz="4800" dirty="0"/>
          </a:p>
        </p:txBody>
      </p:sp>
      <p:sp>
        <p:nvSpPr>
          <p:cNvPr id="16" name="Text 14"/>
          <p:cNvSpPr/>
          <p:nvPr/>
        </p:nvSpPr>
        <p:spPr>
          <a:xfrm>
            <a:off x="9149080" y="3865880"/>
            <a:ext cx="2030171" cy="77216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3E4A5C"/>
                </a:solidFill>
                <a:latin typeface="Arial" panose="020B0604020202020204" pitchFamily="34" charset="0"/>
                <a:ea typeface="Arial" panose="020B0604020202020204" pitchFamily="34" charset="-122"/>
                <a:cs typeface="Arial" panose="020B0604020202020204" pitchFamily="34" charset="-120"/>
              </a:rPr>
              <a:t>MHz estimated maximum clock (WNS +1.747 ns)</a:t>
            </a:r>
            <a:endParaRPr lang="en-US" sz="1400" dirty="0"/>
          </a:p>
        </p:txBody>
      </p:sp>
      <p:sp>
        <p:nvSpPr>
          <p:cNvPr id="17" name="Text 15"/>
          <p:cNvSpPr/>
          <p:nvPr/>
        </p:nvSpPr>
        <p:spPr>
          <a:xfrm>
            <a:off x="812800" y="6238241"/>
            <a:ext cx="588645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8-bit 5-Stage Pipelined RISC Processor</a:t>
            </a:r>
            <a:endParaRPr lang="en-US" sz="1200" dirty="0"/>
          </a:p>
        </p:txBody>
      </p:sp>
      <p:sp>
        <p:nvSpPr>
          <p:cNvPr id="18" name="Text 16"/>
          <p:cNvSpPr/>
          <p:nvPr/>
        </p:nvSpPr>
        <p:spPr>
          <a:xfrm>
            <a:off x="7454900" y="6238241"/>
            <a:ext cx="39243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Lê Kỳ Dũng · SE190745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A9520B"/>
                </a:solidFill>
                <a:latin typeface="Arial" panose="020B0604020202020204" pitchFamily="34" charset="0"/>
                <a:ea typeface="Arial" panose="020B0604020202020204" pitchFamily="34" charset="-122"/>
                <a:cs typeface="Arial" panose="020B0604020202020204" pitchFamily="34" charset="-120"/>
              </a:rPr>
              <a:t>BACKGROUND</a:t>
            </a:r>
            <a:endParaRPr lang="en-US" sz="1200" dirty="0"/>
          </a:p>
        </p:txBody>
      </p:sp>
      <p:sp>
        <p:nvSpPr>
          <p:cNvPr id="3" name="Text 1"/>
          <p:cNvSpPr/>
          <p:nvPr>
            <p:ph type="title"/>
          </p:nvPr>
        </p:nvSpPr>
        <p:spPr>
          <a:xfrm>
            <a:off x="812800" y="1102361"/>
            <a:ext cx="10883392" cy="492760"/>
          </a:xfrm>
          <a:prstGeom prst="rect">
            <a:avLst/>
          </a:prstGeom>
          <a:noFill/>
        </p:spPr>
        <p:txBody>
          <a:bodyPr wrap="square" lIns="0" tIns="0" rIns="0" bIns="0" rtlCol="0" anchor="t">
            <a:normAutofit/>
          </a:bodyPr>
          <a:lstStyle/>
          <a:p>
            <a:pPr marL="0" indent="0" algn="l">
              <a:lnSpc>
                <a:spcPts val="3680"/>
              </a:lnSpc>
              <a:buNone/>
            </a:pPr>
            <a:r>
              <a:rPr lang="en-US" sz="3200" b="1" i="0" dirty="0">
                <a:solidFill>
                  <a:srgbClr val="13213A"/>
                </a:solidFill>
                <a:latin typeface="Arial" panose="020B0604020202020204" pitchFamily="34" charset="0"/>
                <a:ea typeface="Arial" panose="020B0604020202020204" pitchFamily="34" charset="-122"/>
                <a:cs typeface="Arial" panose="020B0604020202020204" pitchFamily="34" charset="-120"/>
              </a:rPr>
              <a:t>Five stages, five instructions in flight</a:t>
            </a:r>
            <a:endParaRPr lang="en-US" sz="3200" dirty="0"/>
          </a:p>
        </p:txBody>
      </p:sp>
      <p:sp>
        <p:nvSpPr>
          <p:cNvPr id="4" name="Shape 2"/>
          <p:cNvSpPr/>
          <p:nvPr/>
        </p:nvSpPr>
        <p:spPr>
          <a:xfrm>
            <a:off x="812800" y="1849120"/>
            <a:ext cx="2011680" cy="1156970"/>
          </a:xfrm>
          <a:prstGeom prst="roundRect">
            <a:avLst>
              <a:gd name="adj" fmla="val 6586"/>
            </a:avLst>
          </a:prstGeom>
          <a:solidFill>
            <a:srgbClr val="D6EAF8"/>
          </a:solidFill>
        </p:spPr>
      </p:sp>
      <p:sp>
        <p:nvSpPr>
          <p:cNvPr id="5" name="Text 3"/>
          <p:cNvSpPr/>
          <p:nvPr/>
        </p:nvSpPr>
        <p:spPr>
          <a:xfrm>
            <a:off x="990600" y="2026920"/>
            <a:ext cx="1706880" cy="330200"/>
          </a:xfrm>
          <a:prstGeom prst="rect">
            <a:avLst/>
          </a:prstGeom>
          <a:noFill/>
        </p:spPr>
        <p:txBody>
          <a:bodyPr wrap="square" lIns="0" tIns="0" rIns="0" bIns="0" rtlCol="0" anchor="t">
            <a:normAutofit/>
          </a:bodyPr>
          <a:lstStyle/>
          <a:p>
            <a:pPr marL="0" indent="0" algn="l">
              <a:lnSpc>
                <a:spcPts val="2400"/>
              </a:lnSpc>
              <a:buNone/>
            </a:pPr>
            <a:r>
              <a:rPr lang="en-US" sz="2000" b="1" dirty="0">
                <a:solidFill>
                  <a:srgbClr val="13213A"/>
                </a:solidFill>
                <a:latin typeface="Arial" panose="020B0604020202020204" pitchFamily="34" charset="0"/>
                <a:ea typeface="Arial" panose="020B0604020202020204" pitchFamily="34" charset="-122"/>
                <a:cs typeface="Arial" panose="020B0604020202020204" pitchFamily="34" charset="-120"/>
              </a:rPr>
              <a:t>IF</a:t>
            </a:r>
            <a:endParaRPr lang="en-US" sz="2000" dirty="0"/>
          </a:p>
        </p:txBody>
      </p:sp>
      <p:sp>
        <p:nvSpPr>
          <p:cNvPr id="6" name="Text 4"/>
          <p:cNvSpPr/>
          <p:nvPr/>
        </p:nvSpPr>
        <p:spPr>
          <a:xfrm>
            <a:off x="990600" y="2382520"/>
            <a:ext cx="1706880" cy="471170"/>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2B3647"/>
                </a:solidFill>
                <a:latin typeface="Arial" panose="020B0604020202020204" pitchFamily="34" charset="0"/>
                <a:ea typeface="Arial" panose="020B0604020202020204" pitchFamily="34" charset="-122"/>
                <a:cs typeface="Arial" panose="020B0604020202020204" pitchFamily="34" charset="-120"/>
              </a:rPr>
              <a:t>Fetch the instruction at PC</a:t>
            </a:r>
            <a:endParaRPr lang="en-US" sz="1300" dirty="0"/>
          </a:p>
        </p:txBody>
      </p:sp>
      <p:sp>
        <p:nvSpPr>
          <p:cNvPr id="7" name="Shape 5"/>
          <p:cNvSpPr/>
          <p:nvPr/>
        </p:nvSpPr>
        <p:spPr>
          <a:xfrm>
            <a:off x="2951480" y="1849120"/>
            <a:ext cx="2011680" cy="1156970"/>
          </a:xfrm>
          <a:prstGeom prst="roundRect">
            <a:avLst>
              <a:gd name="adj" fmla="val 6586"/>
            </a:avLst>
          </a:prstGeom>
          <a:solidFill>
            <a:srgbClr val="D5F5E3"/>
          </a:solidFill>
        </p:spPr>
      </p:sp>
      <p:sp>
        <p:nvSpPr>
          <p:cNvPr id="8" name="Text 6"/>
          <p:cNvSpPr/>
          <p:nvPr/>
        </p:nvSpPr>
        <p:spPr>
          <a:xfrm>
            <a:off x="3129280" y="2026920"/>
            <a:ext cx="1706880" cy="330200"/>
          </a:xfrm>
          <a:prstGeom prst="rect">
            <a:avLst/>
          </a:prstGeom>
          <a:noFill/>
        </p:spPr>
        <p:txBody>
          <a:bodyPr wrap="square" lIns="0" tIns="0" rIns="0" bIns="0" rtlCol="0" anchor="t">
            <a:normAutofit/>
          </a:bodyPr>
          <a:lstStyle/>
          <a:p>
            <a:pPr marL="0" indent="0" algn="l">
              <a:lnSpc>
                <a:spcPts val="2400"/>
              </a:lnSpc>
              <a:buNone/>
            </a:pPr>
            <a:r>
              <a:rPr lang="en-US" sz="2000" b="1" dirty="0">
                <a:solidFill>
                  <a:srgbClr val="13213A"/>
                </a:solidFill>
                <a:latin typeface="Arial" panose="020B0604020202020204" pitchFamily="34" charset="0"/>
                <a:ea typeface="Arial" panose="020B0604020202020204" pitchFamily="34" charset="-122"/>
                <a:cs typeface="Arial" panose="020B0604020202020204" pitchFamily="34" charset="-120"/>
              </a:rPr>
              <a:t>ID</a:t>
            </a:r>
            <a:endParaRPr lang="en-US" sz="2000" dirty="0"/>
          </a:p>
        </p:txBody>
      </p:sp>
      <p:sp>
        <p:nvSpPr>
          <p:cNvPr id="9" name="Text 7"/>
          <p:cNvSpPr/>
          <p:nvPr/>
        </p:nvSpPr>
        <p:spPr>
          <a:xfrm>
            <a:off x="3129280" y="2382520"/>
            <a:ext cx="1706880" cy="471170"/>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2B3647"/>
                </a:solidFill>
                <a:latin typeface="Arial" panose="020B0604020202020204" pitchFamily="34" charset="0"/>
                <a:ea typeface="Arial" panose="020B0604020202020204" pitchFamily="34" charset="-122"/>
                <a:cs typeface="Arial" panose="020B0604020202020204" pitchFamily="34" charset="-120"/>
              </a:rPr>
              <a:t>Decode, read registers</a:t>
            </a:r>
            <a:endParaRPr lang="en-US" sz="1300" dirty="0"/>
          </a:p>
        </p:txBody>
      </p:sp>
      <p:sp>
        <p:nvSpPr>
          <p:cNvPr id="10" name="Shape 8"/>
          <p:cNvSpPr/>
          <p:nvPr/>
        </p:nvSpPr>
        <p:spPr>
          <a:xfrm>
            <a:off x="5090160" y="1849120"/>
            <a:ext cx="2011680" cy="1156970"/>
          </a:xfrm>
          <a:prstGeom prst="roundRect">
            <a:avLst>
              <a:gd name="adj" fmla="val 6586"/>
            </a:avLst>
          </a:prstGeom>
          <a:solidFill>
            <a:srgbClr val="FCF3CF"/>
          </a:solidFill>
        </p:spPr>
      </p:sp>
      <p:sp>
        <p:nvSpPr>
          <p:cNvPr id="11" name="Text 9"/>
          <p:cNvSpPr/>
          <p:nvPr/>
        </p:nvSpPr>
        <p:spPr>
          <a:xfrm>
            <a:off x="5267960" y="2026920"/>
            <a:ext cx="1706880" cy="330200"/>
          </a:xfrm>
          <a:prstGeom prst="rect">
            <a:avLst/>
          </a:prstGeom>
          <a:noFill/>
        </p:spPr>
        <p:txBody>
          <a:bodyPr wrap="square" lIns="0" tIns="0" rIns="0" bIns="0" rtlCol="0" anchor="t">
            <a:normAutofit/>
          </a:bodyPr>
          <a:lstStyle/>
          <a:p>
            <a:pPr marL="0" indent="0" algn="l">
              <a:lnSpc>
                <a:spcPts val="2400"/>
              </a:lnSpc>
              <a:buNone/>
            </a:pPr>
            <a:r>
              <a:rPr lang="en-US" sz="2000" b="1" dirty="0">
                <a:solidFill>
                  <a:srgbClr val="13213A"/>
                </a:solidFill>
                <a:latin typeface="Arial" panose="020B0604020202020204" pitchFamily="34" charset="0"/>
                <a:ea typeface="Arial" panose="020B0604020202020204" pitchFamily="34" charset="-122"/>
                <a:cs typeface="Arial" panose="020B0604020202020204" pitchFamily="34" charset="-120"/>
              </a:rPr>
              <a:t>EX</a:t>
            </a:r>
            <a:endParaRPr lang="en-US" sz="2000" dirty="0"/>
          </a:p>
        </p:txBody>
      </p:sp>
      <p:sp>
        <p:nvSpPr>
          <p:cNvPr id="12" name="Text 10"/>
          <p:cNvSpPr/>
          <p:nvPr/>
        </p:nvSpPr>
        <p:spPr>
          <a:xfrm>
            <a:off x="5267960" y="2382520"/>
            <a:ext cx="1706880" cy="471170"/>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2B3647"/>
                </a:solidFill>
                <a:latin typeface="Arial" panose="020B0604020202020204" pitchFamily="34" charset="0"/>
                <a:ea typeface="Arial" panose="020B0604020202020204" pitchFamily="34" charset="-122"/>
                <a:cs typeface="Arial" panose="020B0604020202020204" pitchFamily="34" charset="-120"/>
              </a:rPr>
              <a:t>ALU, flags, branch decision</a:t>
            </a:r>
            <a:endParaRPr lang="en-US" sz="1300" dirty="0"/>
          </a:p>
        </p:txBody>
      </p:sp>
      <p:sp>
        <p:nvSpPr>
          <p:cNvPr id="13" name="Shape 11"/>
          <p:cNvSpPr/>
          <p:nvPr/>
        </p:nvSpPr>
        <p:spPr>
          <a:xfrm>
            <a:off x="7228840" y="1849120"/>
            <a:ext cx="2011680" cy="1156970"/>
          </a:xfrm>
          <a:prstGeom prst="roundRect">
            <a:avLst>
              <a:gd name="adj" fmla="val 6586"/>
            </a:avLst>
          </a:prstGeom>
          <a:solidFill>
            <a:srgbClr val="FADBD8"/>
          </a:solidFill>
        </p:spPr>
      </p:sp>
      <p:sp>
        <p:nvSpPr>
          <p:cNvPr id="14" name="Text 12"/>
          <p:cNvSpPr/>
          <p:nvPr/>
        </p:nvSpPr>
        <p:spPr>
          <a:xfrm>
            <a:off x="7406640" y="2026920"/>
            <a:ext cx="1706880" cy="330200"/>
          </a:xfrm>
          <a:prstGeom prst="rect">
            <a:avLst/>
          </a:prstGeom>
          <a:noFill/>
        </p:spPr>
        <p:txBody>
          <a:bodyPr wrap="square" lIns="0" tIns="0" rIns="0" bIns="0" rtlCol="0" anchor="t">
            <a:normAutofit/>
          </a:bodyPr>
          <a:lstStyle/>
          <a:p>
            <a:pPr marL="0" indent="0" algn="l">
              <a:lnSpc>
                <a:spcPts val="2400"/>
              </a:lnSpc>
              <a:buNone/>
            </a:pPr>
            <a:r>
              <a:rPr lang="en-US" sz="2000" b="1" dirty="0">
                <a:solidFill>
                  <a:srgbClr val="13213A"/>
                </a:solidFill>
                <a:latin typeface="Arial" panose="020B0604020202020204" pitchFamily="34" charset="0"/>
                <a:ea typeface="Arial" panose="020B0604020202020204" pitchFamily="34" charset="-122"/>
                <a:cs typeface="Arial" panose="020B0604020202020204" pitchFamily="34" charset="-120"/>
              </a:rPr>
              <a:t>MEM</a:t>
            </a:r>
            <a:endParaRPr lang="en-US" sz="2000" dirty="0"/>
          </a:p>
        </p:txBody>
      </p:sp>
      <p:sp>
        <p:nvSpPr>
          <p:cNvPr id="15" name="Text 13"/>
          <p:cNvSpPr/>
          <p:nvPr/>
        </p:nvSpPr>
        <p:spPr>
          <a:xfrm>
            <a:off x="7406640" y="2382520"/>
            <a:ext cx="1706880" cy="471170"/>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2B3647"/>
                </a:solidFill>
                <a:latin typeface="Arial" panose="020B0604020202020204" pitchFamily="34" charset="0"/>
                <a:ea typeface="Arial" panose="020B0604020202020204" pitchFamily="34" charset="-122"/>
                <a:cs typeface="Arial" panose="020B0604020202020204" pitchFamily="34" charset="-120"/>
              </a:rPr>
              <a:t>Load / store data memory</a:t>
            </a:r>
            <a:endParaRPr lang="en-US" sz="1300" dirty="0"/>
          </a:p>
        </p:txBody>
      </p:sp>
      <p:sp>
        <p:nvSpPr>
          <p:cNvPr id="16" name="Shape 14"/>
          <p:cNvSpPr/>
          <p:nvPr/>
        </p:nvSpPr>
        <p:spPr>
          <a:xfrm>
            <a:off x="9367520" y="1849120"/>
            <a:ext cx="2011680" cy="1156970"/>
          </a:xfrm>
          <a:prstGeom prst="roundRect">
            <a:avLst>
              <a:gd name="adj" fmla="val 6586"/>
            </a:avLst>
          </a:prstGeom>
          <a:solidFill>
            <a:srgbClr val="E8DAEF"/>
          </a:solidFill>
        </p:spPr>
      </p:sp>
      <p:sp>
        <p:nvSpPr>
          <p:cNvPr id="17" name="Text 15"/>
          <p:cNvSpPr/>
          <p:nvPr/>
        </p:nvSpPr>
        <p:spPr>
          <a:xfrm>
            <a:off x="9545320" y="2026920"/>
            <a:ext cx="1706880" cy="330200"/>
          </a:xfrm>
          <a:prstGeom prst="rect">
            <a:avLst/>
          </a:prstGeom>
          <a:noFill/>
        </p:spPr>
        <p:txBody>
          <a:bodyPr wrap="square" lIns="0" tIns="0" rIns="0" bIns="0" rtlCol="0" anchor="t">
            <a:normAutofit/>
          </a:bodyPr>
          <a:lstStyle/>
          <a:p>
            <a:pPr marL="0" indent="0" algn="l">
              <a:lnSpc>
                <a:spcPts val="2400"/>
              </a:lnSpc>
              <a:buNone/>
            </a:pPr>
            <a:r>
              <a:rPr lang="en-US" sz="2000" b="1" dirty="0">
                <a:solidFill>
                  <a:srgbClr val="13213A"/>
                </a:solidFill>
                <a:latin typeface="Arial" panose="020B0604020202020204" pitchFamily="34" charset="0"/>
                <a:ea typeface="Arial" panose="020B0604020202020204" pitchFamily="34" charset="-122"/>
                <a:cs typeface="Arial" panose="020B0604020202020204" pitchFamily="34" charset="-120"/>
              </a:rPr>
              <a:t>WB</a:t>
            </a:r>
            <a:endParaRPr lang="en-US" sz="2000" dirty="0"/>
          </a:p>
        </p:txBody>
      </p:sp>
      <p:sp>
        <p:nvSpPr>
          <p:cNvPr id="18" name="Text 16"/>
          <p:cNvSpPr/>
          <p:nvPr/>
        </p:nvSpPr>
        <p:spPr>
          <a:xfrm>
            <a:off x="9545320" y="2382520"/>
            <a:ext cx="1833880" cy="248285"/>
          </a:xfrm>
          <a:prstGeom prst="rect">
            <a:avLst/>
          </a:prstGeom>
          <a:noFill/>
        </p:spPr>
        <p:txBody>
          <a:bodyPr wrap="square" lIns="0" tIns="0" rIns="0" bIns="0" rtlCol="0" anchor="t">
            <a:normAutofit/>
          </a:bodyPr>
          <a:lstStyle/>
          <a:p>
            <a:pPr marL="0" indent="0" algn="l">
              <a:lnSpc>
                <a:spcPts val="1755"/>
              </a:lnSpc>
              <a:buNone/>
            </a:pPr>
            <a:r>
              <a:rPr lang="en-US" sz="1300" dirty="0">
                <a:solidFill>
                  <a:srgbClr val="2B3647"/>
                </a:solidFill>
                <a:latin typeface="Arial" panose="020B0604020202020204" pitchFamily="34" charset="0"/>
                <a:ea typeface="Arial" panose="020B0604020202020204" pitchFamily="34" charset="-122"/>
                <a:cs typeface="Arial" panose="020B0604020202020204" pitchFamily="34" charset="-120"/>
              </a:rPr>
              <a:t>Write result to register</a:t>
            </a:r>
            <a:endParaRPr lang="en-US" sz="1300" dirty="0"/>
          </a:p>
        </p:txBody>
      </p:sp>
      <p:sp>
        <p:nvSpPr>
          <p:cNvPr id="19" name="Shape 17"/>
          <p:cNvSpPr/>
          <p:nvPr/>
        </p:nvSpPr>
        <p:spPr>
          <a:xfrm>
            <a:off x="812800" y="3285491"/>
            <a:ext cx="6604000" cy="1437640"/>
          </a:xfrm>
          <a:prstGeom prst="rect">
            <a:avLst/>
          </a:prstGeom>
          <a:solidFill>
            <a:srgbClr val="FFFFFF"/>
          </a:solidFill>
        </p:spPr>
      </p:sp>
      <p:graphicFrame>
        <p:nvGraphicFramePr>
          <p:cNvPr id="20" name="Table 0"/>
          <p:cNvGraphicFramePr>
            <a:graphicFrameLocks noGrp="1"/>
          </p:cNvGraphicFramePr>
          <p:nvPr/>
        </p:nvGraphicFramePr>
        <p:xfrm>
          <a:off x="822960" y="3295651"/>
          <a:ext cx="6593840" cy="1427480"/>
        </p:xfrm>
        <a:graphic>
          <a:graphicData uri="http://schemas.openxmlformats.org/drawingml/2006/table">
            <a:tbl>
              <a:tblPr/>
              <a:tblGrid>
                <a:gridCol w="1450645"/>
                <a:gridCol w="725322"/>
                <a:gridCol w="725322"/>
                <a:gridCol w="725322"/>
                <a:gridCol w="725322"/>
                <a:gridCol w="725322"/>
                <a:gridCol w="725322"/>
                <a:gridCol w="791261"/>
              </a:tblGrid>
              <a:tr h="356870">
                <a:tc>
                  <a:txBody>
                    <a:bodyPr/>
                    <a:lstStyle/>
                    <a:p>
                      <a:pPr marL="0" indent="0">
                        <a:lnSpc>
                          <a:spcPts val="1820"/>
                        </a:lnSpc>
                        <a:buNone/>
                      </a:pPr>
                      <a:r>
                        <a:rPr lang="en-US" sz="1300" b="1" dirty="0">
                          <a:solidFill>
                            <a:srgbClr val="1B2638"/>
                          </a:solidFill>
                          <a:latin typeface="Arial" panose="020B0604020202020204" pitchFamily="34" charset="0"/>
                          <a:ea typeface="Arial" panose="020B0604020202020204" pitchFamily="34" charset="-122"/>
                          <a:cs typeface="Arial" panose="020B0604020202020204" pitchFamily="34" charset="-120"/>
                        </a:rPr>
                        <a:t>Cycle</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ctr">
                        <a:lnSpc>
                          <a:spcPts val="1820"/>
                        </a:lnSpc>
                        <a:buNone/>
                      </a:pPr>
                      <a:r>
                        <a:rPr lang="en-US" sz="1300" b="1" dirty="0">
                          <a:solidFill>
                            <a:srgbClr val="1B2638"/>
                          </a:solidFill>
                          <a:latin typeface="Arial" panose="020B0604020202020204" pitchFamily="34" charset="0"/>
                          <a:ea typeface="Arial" panose="020B0604020202020204" pitchFamily="34" charset="-122"/>
                          <a:cs typeface="Arial" panose="020B0604020202020204" pitchFamily="34" charset="-120"/>
                        </a:rPr>
                        <a:t>1</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ctr">
                        <a:lnSpc>
                          <a:spcPts val="1820"/>
                        </a:lnSpc>
                        <a:buNone/>
                      </a:pPr>
                      <a:r>
                        <a:rPr lang="en-US" sz="1300" b="1" dirty="0">
                          <a:solidFill>
                            <a:srgbClr val="1B2638"/>
                          </a:solidFill>
                          <a:latin typeface="Arial" panose="020B0604020202020204" pitchFamily="34" charset="0"/>
                          <a:ea typeface="Arial" panose="020B0604020202020204" pitchFamily="34" charset="-122"/>
                          <a:cs typeface="Arial" panose="020B0604020202020204" pitchFamily="34" charset="-120"/>
                        </a:rPr>
                        <a:t>2</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ctr">
                        <a:lnSpc>
                          <a:spcPts val="1820"/>
                        </a:lnSpc>
                        <a:buNone/>
                      </a:pPr>
                      <a:r>
                        <a:rPr lang="en-US" sz="1300" b="1" dirty="0">
                          <a:solidFill>
                            <a:srgbClr val="1B2638"/>
                          </a:solidFill>
                          <a:latin typeface="Arial" panose="020B0604020202020204" pitchFamily="34" charset="0"/>
                          <a:ea typeface="Arial" panose="020B0604020202020204" pitchFamily="34" charset="-122"/>
                          <a:cs typeface="Arial" panose="020B0604020202020204" pitchFamily="34" charset="-120"/>
                        </a:rPr>
                        <a:t>3</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ctr">
                        <a:lnSpc>
                          <a:spcPts val="1820"/>
                        </a:lnSpc>
                        <a:buNone/>
                      </a:pPr>
                      <a:r>
                        <a:rPr lang="en-US" sz="1300" b="1" dirty="0">
                          <a:solidFill>
                            <a:srgbClr val="1B2638"/>
                          </a:solidFill>
                          <a:latin typeface="Arial" panose="020B0604020202020204" pitchFamily="34" charset="0"/>
                          <a:ea typeface="Arial" panose="020B0604020202020204" pitchFamily="34" charset="-122"/>
                          <a:cs typeface="Arial" panose="020B0604020202020204" pitchFamily="34" charset="-120"/>
                        </a:rPr>
                        <a:t>4</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ctr">
                        <a:lnSpc>
                          <a:spcPts val="1820"/>
                        </a:lnSpc>
                        <a:buNone/>
                      </a:pPr>
                      <a:r>
                        <a:rPr lang="en-US" sz="1300" b="1" dirty="0">
                          <a:solidFill>
                            <a:srgbClr val="1B2638"/>
                          </a:solidFill>
                          <a:latin typeface="Arial" panose="020B0604020202020204" pitchFamily="34" charset="0"/>
                          <a:ea typeface="Arial" panose="020B0604020202020204" pitchFamily="34" charset="-122"/>
                          <a:cs typeface="Arial" panose="020B0604020202020204" pitchFamily="34" charset="-120"/>
                        </a:rPr>
                        <a:t>5</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ctr">
                        <a:lnSpc>
                          <a:spcPts val="1820"/>
                        </a:lnSpc>
                        <a:buNone/>
                      </a:pPr>
                      <a:r>
                        <a:rPr lang="en-US" sz="1300" b="1" dirty="0">
                          <a:solidFill>
                            <a:srgbClr val="1B2638"/>
                          </a:solidFill>
                          <a:latin typeface="Arial" panose="020B0604020202020204" pitchFamily="34" charset="0"/>
                          <a:ea typeface="Arial" panose="020B0604020202020204" pitchFamily="34" charset="-122"/>
                          <a:cs typeface="Arial" panose="020B0604020202020204" pitchFamily="34" charset="-120"/>
                        </a:rPr>
                        <a:t>6</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ctr">
                        <a:lnSpc>
                          <a:spcPts val="1820"/>
                        </a:lnSpc>
                        <a:buNone/>
                      </a:pPr>
                      <a:r>
                        <a:rPr lang="en-US" sz="1300" b="1" dirty="0">
                          <a:solidFill>
                            <a:srgbClr val="1B2638"/>
                          </a:solidFill>
                          <a:latin typeface="Arial" panose="020B0604020202020204" pitchFamily="34" charset="0"/>
                          <a:ea typeface="Arial" panose="020B0604020202020204" pitchFamily="34" charset="-122"/>
                          <a:cs typeface="Arial" panose="020B0604020202020204" pitchFamily="34" charset="-120"/>
                        </a:rPr>
                        <a:t>7</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56870">
                <a:tc>
                  <a:txBody>
                    <a:bodyPr/>
                    <a:lstStyle/>
                    <a:p>
                      <a:pPr marL="0" indent="0">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Instr. 1</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IF</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ID</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EX</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MEM</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WB</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marL="0" indent="0">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Instr. 2</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IF</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ID</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EX</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MEM</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WB</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marL="0" indent="0">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Instr. 3</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IF</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ID</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EX</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MEM</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WB</a:t>
                      </a:r>
                      <a:endParaRPr lang="en-US" sz="1300" dirty="0">
                        <a:latin typeface="Arial" panose="020B0604020202020204" pitchFamily="34" charset="0"/>
                        <a:ea typeface="Arial" panose="020B0604020202020204" pitchFamily="34" charset="0"/>
                        <a:cs typeface="Arial" panose="020B0604020202020204" pitchFamily="34"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21" name="Text 18"/>
          <p:cNvSpPr/>
          <p:nvPr/>
        </p:nvSpPr>
        <p:spPr>
          <a:xfrm>
            <a:off x="7772400" y="3577591"/>
            <a:ext cx="3662680" cy="878840"/>
          </a:xfrm>
          <a:prstGeom prst="rect">
            <a:avLst/>
          </a:prstGeom>
          <a:noFill/>
        </p:spPr>
        <p:txBody>
          <a:bodyPr wrap="square" lIns="0" tIns="0" rIns="0" bIns="0" rtlCol="0" anchor="t">
            <a:normAutofit/>
          </a:bodyPr>
          <a:lstStyle/>
          <a:p>
            <a:pPr marL="0" indent="0" algn="l">
              <a:lnSpc>
                <a:spcPts val="2240"/>
              </a:lnSpc>
              <a:buNone/>
            </a:pPr>
            <a:r>
              <a:rPr lang="en-US" sz="1600" dirty="0">
                <a:solidFill>
                  <a:srgbClr val="3E4A5C"/>
                </a:solidFill>
                <a:latin typeface="Arial" panose="020B0604020202020204" pitchFamily="34" charset="0"/>
                <a:ea typeface="Arial" panose="020B0604020202020204" pitchFamily="34" charset="-122"/>
                <a:cs typeface="Arial" panose="020B0604020202020204" pitchFamily="34" charset="-120"/>
              </a:rPr>
              <a:t>Each instruction still needs 5 cycles, but from cycle 5 </a:t>
            </a:r>
            <a:r>
              <a:rPr lang="en-US" sz="1600" b="1" dirty="0">
                <a:solidFill>
                  <a:srgbClr val="3E4A5C"/>
                </a:solidFill>
                <a:latin typeface="Arial" panose="020B0604020202020204" pitchFamily="34" charset="0"/>
                <a:ea typeface="Arial" panose="020B0604020202020204" pitchFamily="34" charset="-122"/>
                <a:cs typeface="Arial" panose="020B0604020202020204" pitchFamily="34" charset="-120"/>
              </a:rPr>
              <a:t>one instruction finishes every cycle</a:t>
            </a:r>
            <a:r>
              <a:rPr lang="en-US" sz="1600" dirty="0">
                <a:solidFill>
                  <a:srgbClr val="3E4A5C"/>
                </a:solidFill>
                <a:latin typeface="Arial" panose="020B0604020202020204" pitchFamily="34" charset="0"/>
                <a:ea typeface="Arial" panose="020B0604020202020204" pitchFamily="34" charset="-122"/>
                <a:cs typeface="Arial" panose="020B0604020202020204" pitchFamily="34" charset="-120"/>
              </a:rPr>
              <a:t>.</a:t>
            </a:r>
            <a:endParaRPr lang="en-US" sz="1600" dirty="0"/>
          </a:p>
        </p:txBody>
      </p:sp>
      <p:sp>
        <p:nvSpPr>
          <p:cNvPr id="22" name="Text 19"/>
          <p:cNvSpPr/>
          <p:nvPr/>
        </p:nvSpPr>
        <p:spPr>
          <a:xfrm>
            <a:off x="812800" y="6238241"/>
            <a:ext cx="588645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8-bit 5-Stage Pipelined RISC Processor</a:t>
            </a:r>
            <a:endParaRPr lang="en-US" sz="1200" dirty="0"/>
          </a:p>
        </p:txBody>
      </p:sp>
      <p:sp>
        <p:nvSpPr>
          <p:cNvPr id="23" name="Text 20"/>
          <p:cNvSpPr/>
          <p:nvPr/>
        </p:nvSpPr>
        <p:spPr>
          <a:xfrm>
            <a:off x="7454900" y="6238241"/>
            <a:ext cx="39243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Lê Kỳ Dũng · SE190745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A9520B"/>
                </a:solidFill>
                <a:latin typeface="Arial" panose="020B0604020202020204" pitchFamily="34" charset="0"/>
                <a:ea typeface="Arial" panose="020B0604020202020204" pitchFamily="34" charset="-122"/>
                <a:cs typeface="Arial" panose="020B0604020202020204" pitchFamily="34" charset="-120"/>
              </a:rPr>
              <a:t>INSTRUCTION SET</a:t>
            </a:r>
            <a:endParaRPr lang="en-US" sz="1200" dirty="0"/>
          </a:p>
        </p:txBody>
      </p:sp>
      <p:sp>
        <p:nvSpPr>
          <p:cNvPr id="3" name="Text 1"/>
          <p:cNvSpPr/>
          <p:nvPr>
            <p:ph type="title"/>
          </p:nvPr>
        </p:nvSpPr>
        <p:spPr>
          <a:xfrm>
            <a:off x="812800" y="1102361"/>
            <a:ext cx="10883392" cy="492760"/>
          </a:xfrm>
          <a:prstGeom prst="rect">
            <a:avLst/>
          </a:prstGeom>
          <a:noFill/>
        </p:spPr>
        <p:txBody>
          <a:bodyPr wrap="square" lIns="0" tIns="0" rIns="0" bIns="0" rtlCol="0" anchor="t">
            <a:normAutofit/>
          </a:bodyPr>
          <a:lstStyle/>
          <a:p>
            <a:pPr marL="0" indent="0" algn="l">
              <a:lnSpc>
                <a:spcPts val="3680"/>
              </a:lnSpc>
              <a:buNone/>
            </a:pPr>
            <a:r>
              <a:rPr lang="en-US" sz="3200" b="1" i="0" dirty="0">
                <a:solidFill>
                  <a:srgbClr val="13213A"/>
                </a:solidFill>
                <a:latin typeface="Arial" panose="020B0604020202020204" pitchFamily="34" charset="0"/>
                <a:ea typeface="Arial" panose="020B0604020202020204" pitchFamily="34" charset="-122"/>
                <a:cs typeface="Arial" panose="020B0604020202020204" pitchFamily="34" charset="-120"/>
              </a:rPr>
              <a:t>16 instructions, one 16-bit format family</a:t>
            </a:r>
            <a:endParaRPr lang="en-US" sz="3200" dirty="0"/>
          </a:p>
        </p:txBody>
      </p:sp>
      <p:sp>
        <p:nvSpPr>
          <p:cNvPr id="4" name="Text 2"/>
          <p:cNvSpPr/>
          <p:nvPr/>
        </p:nvSpPr>
        <p:spPr>
          <a:xfrm>
            <a:off x="815975" y="1826895"/>
            <a:ext cx="1377950" cy="336550"/>
          </a:xfrm>
          <a:prstGeom prst="roundRect">
            <a:avLst>
              <a:gd name="adj" fmla="val 14151"/>
            </a:avLst>
          </a:prstGeom>
          <a:solidFill>
            <a:srgbClr val="FFFFFF"/>
          </a:solidFill>
          <a:ln w="6350">
            <a:solidFill>
              <a:srgbClr val="DCE1E8"/>
            </a:solidFill>
            <a:prstDash val="solid"/>
          </a:ln>
        </p:spPr>
        <p:txBody>
          <a:bodyPr wrap="square" lIns="76856" tIns="38756" rIns="26056" bIns="13356" rtlCol="0" anchor="t">
            <a:normAutofit/>
          </a:bodyPr>
          <a:lstStyle/>
          <a:p>
            <a:pPr marL="0" indent="0" algn="l">
              <a:lnSpc>
                <a:spcPts val="1820"/>
              </a:lnSpc>
              <a:buNone/>
            </a:pPr>
            <a:r>
              <a:rPr lang="en-US" sz="1300" dirty="0">
                <a:solidFill>
                  <a:srgbClr val="1B2638"/>
                </a:solidFill>
                <a:latin typeface="Courier New" panose="02070309020205020404" pitchFamily="49" charset="0"/>
                <a:ea typeface="Courier New" panose="02070309020205020404" pitchFamily="49" charset="-122"/>
                <a:cs typeface="Courier New" panose="02070309020205020404" pitchFamily="49" charset="-120"/>
              </a:rPr>
              <a:t>0 NOP</a:t>
            </a:r>
            <a:endParaRPr lang="en-US" sz="1300" dirty="0"/>
          </a:p>
        </p:txBody>
      </p:sp>
      <p:sp>
        <p:nvSpPr>
          <p:cNvPr id="5" name="Text 3"/>
          <p:cNvSpPr/>
          <p:nvPr/>
        </p:nvSpPr>
        <p:spPr>
          <a:xfrm>
            <a:off x="2276475" y="1826895"/>
            <a:ext cx="1377950" cy="336550"/>
          </a:xfrm>
          <a:prstGeom prst="roundRect">
            <a:avLst>
              <a:gd name="adj" fmla="val 14151"/>
            </a:avLst>
          </a:prstGeom>
          <a:solidFill>
            <a:srgbClr val="FFFFFF"/>
          </a:solidFill>
          <a:ln w="6350">
            <a:solidFill>
              <a:srgbClr val="DCE1E8"/>
            </a:solidFill>
            <a:prstDash val="solid"/>
          </a:ln>
        </p:spPr>
        <p:txBody>
          <a:bodyPr wrap="square" lIns="76856" tIns="38756" rIns="26056" bIns="13356" rtlCol="0" anchor="t">
            <a:normAutofit/>
          </a:bodyPr>
          <a:lstStyle/>
          <a:p>
            <a:pPr marL="0" indent="0" algn="l">
              <a:lnSpc>
                <a:spcPts val="1820"/>
              </a:lnSpc>
              <a:buNone/>
            </a:pPr>
            <a:r>
              <a:rPr lang="en-US" sz="1300" dirty="0">
                <a:solidFill>
                  <a:srgbClr val="1B2638"/>
                </a:solidFill>
                <a:latin typeface="Courier New" panose="02070309020205020404" pitchFamily="49" charset="0"/>
                <a:ea typeface="Courier New" panose="02070309020205020404" pitchFamily="49" charset="-122"/>
                <a:cs typeface="Courier New" panose="02070309020205020404" pitchFamily="49" charset="-120"/>
              </a:rPr>
              <a:t>1 ADD</a:t>
            </a:r>
            <a:endParaRPr lang="en-US" sz="1300" dirty="0"/>
          </a:p>
        </p:txBody>
      </p:sp>
      <p:sp>
        <p:nvSpPr>
          <p:cNvPr id="6" name="Text 4"/>
          <p:cNvSpPr/>
          <p:nvPr/>
        </p:nvSpPr>
        <p:spPr>
          <a:xfrm>
            <a:off x="3736975" y="1826895"/>
            <a:ext cx="1377950" cy="336550"/>
          </a:xfrm>
          <a:prstGeom prst="roundRect">
            <a:avLst>
              <a:gd name="adj" fmla="val 14151"/>
            </a:avLst>
          </a:prstGeom>
          <a:solidFill>
            <a:srgbClr val="FFFFFF"/>
          </a:solidFill>
          <a:ln w="6350">
            <a:solidFill>
              <a:srgbClr val="DCE1E8"/>
            </a:solidFill>
            <a:prstDash val="solid"/>
          </a:ln>
        </p:spPr>
        <p:txBody>
          <a:bodyPr wrap="square" lIns="76856" tIns="38756" rIns="26056" bIns="13356" rtlCol="0" anchor="t">
            <a:normAutofit/>
          </a:bodyPr>
          <a:lstStyle/>
          <a:p>
            <a:pPr marL="0" indent="0" algn="l">
              <a:lnSpc>
                <a:spcPts val="1820"/>
              </a:lnSpc>
              <a:buNone/>
            </a:pPr>
            <a:r>
              <a:rPr lang="en-US" sz="1300" dirty="0">
                <a:solidFill>
                  <a:srgbClr val="1B2638"/>
                </a:solidFill>
                <a:latin typeface="Courier New" panose="02070309020205020404" pitchFamily="49" charset="0"/>
                <a:ea typeface="Courier New" panose="02070309020205020404" pitchFamily="49" charset="-122"/>
                <a:cs typeface="Courier New" panose="02070309020205020404" pitchFamily="49" charset="-120"/>
              </a:rPr>
              <a:t>2 SUB</a:t>
            </a:r>
            <a:endParaRPr lang="en-US" sz="1300" dirty="0"/>
          </a:p>
        </p:txBody>
      </p:sp>
      <p:sp>
        <p:nvSpPr>
          <p:cNvPr id="7" name="Text 5"/>
          <p:cNvSpPr/>
          <p:nvPr/>
        </p:nvSpPr>
        <p:spPr>
          <a:xfrm>
            <a:off x="5197475" y="1826895"/>
            <a:ext cx="1377950" cy="336550"/>
          </a:xfrm>
          <a:prstGeom prst="roundRect">
            <a:avLst>
              <a:gd name="adj" fmla="val 14151"/>
            </a:avLst>
          </a:prstGeom>
          <a:solidFill>
            <a:srgbClr val="FFFFFF"/>
          </a:solidFill>
          <a:ln w="6350">
            <a:solidFill>
              <a:srgbClr val="DCE1E8"/>
            </a:solidFill>
            <a:prstDash val="solid"/>
          </a:ln>
        </p:spPr>
        <p:txBody>
          <a:bodyPr wrap="square" lIns="76856" tIns="38756" rIns="26056" bIns="13356" rtlCol="0" anchor="t">
            <a:normAutofit/>
          </a:bodyPr>
          <a:lstStyle/>
          <a:p>
            <a:pPr marL="0" indent="0" algn="l">
              <a:lnSpc>
                <a:spcPts val="1820"/>
              </a:lnSpc>
              <a:buNone/>
            </a:pPr>
            <a:r>
              <a:rPr lang="en-US" sz="1300" dirty="0">
                <a:solidFill>
                  <a:srgbClr val="1B2638"/>
                </a:solidFill>
                <a:latin typeface="Courier New" panose="02070309020205020404" pitchFamily="49" charset="0"/>
                <a:ea typeface="Courier New" panose="02070309020205020404" pitchFamily="49" charset="-122"/>
                <a:cs typeface="Courier New" panose="02070309020205020404" pitchFamily="49" charset="-120"/>
              </a:rPr>
              <a:t>3 AND</a:t>
            </a:r>
            <a:endParaRPr lang="en-US" sz="1300" dirty="0"/>
          </a:p>
        </p:txBody>
      </p:sp>
      <p:sp>
        <p:nvSpPr>
          <p:cNvPr id="8" name="Text 6"/>
          <p:cNvSpPr/>
          <p:nvPr/>
        </p:nvSpPr>
        <p:spPr>
          <a:xfrm>
            <a:off x="815975" y="2245995"/>
            <a:ext cx="1377950" cy="336550"/>
          </a:xfrm>
          <a:prstGeom prst="roundRect">
            <a:avLst>
              <a:gd name="adj" fmla="val 14151"/>
            </a:avLst>
          </a:prstGeom>
          <a:solidFill>
            <a:srgbClr val="FFFFFF"/>
          </a:solidFill>
          <a:ln w="6350">
            <a:solidFill>
              <a:srgbClr val="DCE1E8"/>
            </a:solidFill>
            <a:prstDash val="solid"/>
          </a:ln>
        </p:spPr>
        <p:txBody>
          <a:bodyPr wrap="square" lIns="76856" tIns="38756" rIns="26056" bIns="13356" rtlCol="0" anchor="t">
            <a:normAutofit/>
          </a:bodyPr>
          <a:lstStyle/>
          <a:p>
            <a:pPr marL="0" indent="0" algn="l">
              <a:lnSpc>
                <a:spcPts val="1820"/>
              </a:lnSpc>
              <a:buNone/>
            </a:pPr>
            <a:r>
              <a:rPr lang="en-US" sz="1300" dirty="0">
                <a:solidFill>
                  <a:srgbClr val="1B2638"/>
                </a:solidFill>
                <a:latin typeface="Courier New" panose="02070309020205020404" pitchFamily="49" charset="0"/>
                <a:ea typeface="Courier New" panose="02070309020205020404" pitchFamily="49" charset="-122"/>
                <a:cs typeface="Courier New" panose="02070309020205020404" pitchFamily="49" charset="-120"/>
              </a:rPr>
              <a:t>4 OR</a:t>
            </a:r>
            <a:endParaRPr lang="en-US" sz="1300" dirty="0"/>
          </a:p>
        </p:txBody>
      </p:sp>
      <p:sp>
        <p:nvSpPr>
          <p:cNvPr id="9" name="Text 7"/>
          <p:cNvSpPr/>
          <p:nvPr/>
        </p:nvSpPr>
        <p:spPr>
          <a:xfrm>
            <a:off x="2276475" y="2245995"/>
            <a:ext cx="1377950" cy="336550"/>
          </a:xfrm>
          <a:prstGeom prst="roundRect">
            <a:avLst>
              <a:gd name="adj" fmla="val 14151"/>
            </a:avLst>
          </a:prstGeom>
          <a:solidFill>
            <a:srgbClr val="FFFFFF"/>
          </a:solidFill>
          <a:ln w="6350">
            <a:solidFill>
              <a:srgbClr val="DCE1E8"/>
            </a:solidFill>
            <a:prstDash val="solid"/>
          </a:ln>
        </p:spPr>
        <p:txBody>
          <a:bodyPr wrap="square" lIns="76856" tIns="38756" rIns="26056" bIns="13356" rtlCol="0" anchor="t">
            <a:normAutofit/>
          </a:bodyPr>
          <a:lstStyle/>
          <a:p>
            <a:pPr marL="0" indent="0" algn="l">
              <a:lnSpc>
                <a:spcPts val="1820"/>
              </a:lnSpc>
              <a:buNone/>
            </a:pPr>
            <a:r>
              <a:rPr lang="en-US" sz="1300" dirty="0">
                <a:solidFill>
                  <a:srgbClr val="1B2638"/>
                </a:solidFill>
                <a:latin typeface="Courier New" panose="02070309020205020404" pitchFamily="49" charset="0"/>
                <a:ea typeface="Courier New" panose="02070309020205020404" pitchFamily="49" charset="-122"/>
                <a:cs typeface="Courier New" panose="02070309020205020404" pitchFamily="49" charset="-120"/>
              </a:rPr>
              <a:t>5 XOR</a:t>
            </a:r>
            <a:endParaRPr lang="en-US" sz="1300" dirty="0"/>
          </a:p>
        </p:txBody>
      </p:sp>
      <p:sp>
        <p:nvSpPr>
          <p:cNvPr id="10" name="Text 8"/>
          <p:cNvSpPr/>
          <p:nvPr/>
        </p:nvSpPr>
        <p:spPr>
          <a:xfrm>
            <a:off x="3736975" y="2245995"/>
            <a:ext cx="1377950" cy="336550"/>
          </a:xfrm>
          <a:prstGeom prst="roundRect">
            <a:avLst>
              <a:gd name="adj" fmla="val 14151"/>
            </a:avLst>
          </a:prstGeom>
          <a:solidFill>
            <a:srgbClr val="FFFFFF"/>
          </a:solidFill>
          <a:ln w="6350">
            <a:solidFill>
              <a:srgbClr val="DCE1E8"/>
            </a:solidFill>
            <a:prstDash val="solid"/>
          </a:ln>
        </p:spPr>
        <p:txBody>
          <a:bodyPr wrap="square" lIns="76856" tIns="38756" rIns="26056" bIns="13356" rtlCol="0" anchor="t">
            <a:normAutofit/>
          </a:bodyPr>
          <a:lstStyle/>
          <a:p>
            <a:pPr marL="0" indent="0" algn="l">
              <a:lnSpc>
                <a:spcPts val="1820"/>
              </a:lnSpc>
              <a:buNone/>
            </a:pPr>
            <a:r>
              <a:rPr lang="en-US" sz="1300" dirty="0">
                <a:solidFill>
                  <a:srgbClr val="1B2638"/>
                </a:solidFill>
                <a:latin typeface="Courier New" panose="02070309020205020404" pitchFamily="49" charset="0"/>
                <a:ea typeface="Courier New" panose="02070309020205020404" pitchFamily="49" charset="-122"/>
                <a:cs typeface="Courier New" panose="02070309020205020404" pitchFamily="49" charset="-120"/>
              </a:rPr>
              <a:t>6 SHL</a:t>
            </a:r>
            <a:endParaRPr lang="en-US" sz="1300" dirty="0"/>
          </a:p>
        </p:txBody>
      </p:sp>
      <p:sp>
        <p:nvSpPr>
          <p:cNvPr id="11" name="Text 9"/>
          <p:cNvSpPr/>
          <p:nvPr/>
        </p:nvSpPr>
        <p:spPr>
          <a:xfrm>
            <a:off x="5197475" y="2245995"/>
            <a:ext cx="1377950" cy="336550"/>
          </a:xfrm>
          <a:prstGeom prst="roundRect">
            <a:avLst>
              <a:gd name="adj" fmla="val 14151"/>
            </a:avLst>
          </a:prstGeom>
          <a:solidFill>
            <a:srgbClr val="FFFFFF"/>
          </a:solidFill>
          <a:ln w="6350">
            <a:solidFill>
              <a:srgbClr val="DCE1E8"/>
            </a:solidFill>
            <a:prstDash val="solid"/>
          </a:ln>
        </p:spPr>
        <p:txBody>
          <a:bodyPr wrap="square" lIns="76856" tIns="38756" rIns="26056" bIns="13356" rtlCol="0" anchor="t">
            <a:normAutofit/>
          </a:bodyPr>
          <a:lstStyle/>
          <a:p>
            <a:pPr marL="0" indent="0" algn="l">
              <a:lnSpc>
                <a:spcPts val="1820"/>
              </a:lnSpc>
              <a:buNone/>
            </a:pPr>
            <a:r>
              <a:rPr lang="en-US" sz="1300" dirty="0">
                <a:solidFill>
                  <a:srgbClr val="1B2638"/>
                </a:solidFill>
                <a:latin typeface="Courier New" panose="02070309020205020404" pitchFamily="49" charset="0"/>
                <a:ea typeface="Courier New" panose="02070309020205020404" pitchFamily="49" charset="-122"/>
                <a:cs typeface="Courier New" panose="02070309020205020404" pitchFamily="49" charset="-120"/>
              </a:rPr>
              <a:t>7 SHR</a:t>
            </a:r>
            <a:endParaRPr lang="en-US" sz="1300" dirty="0"/>
          </a:p>
        </p:txBody>
      </p:sp>
      <p:sp>
        <p:nvSpPr>
          <p:cNvPr id="12" name="Text 10"/>
          <p:cNvSpPr/>
          <p:nvPr/>
        </p:nvSpPr>
        <p:spPr>
          <a:xfrm>
            <a:off x="815975" y="2665095"/>
            <a:ext cx="1377950" cy="336550"/>
          </a:xfrm>
          <a:prstGeom prst="roundRect">
            <a:avLst>
              <a:gd name="adj" fmla="val 14151"/>
            </a:avLst>
          </a:prstGeom>
          <a:solidFill>
            <a:srgbClr val="FFFFFF"/>
          </a:solidFill>
          <a:ln w="6350">
            <a:solidFill>
              <a:srgbClr val="DCE1E8"/>
            </a:solidFill>
            <a:prstDash val="solid"/>
          </a:ln>
        </p:spPr>
        <p:txBody>
          <a:bodyPr wrap="square" lIns="76856" tIns="38756" rIns="26056" bIns="13356" rtlCol="0" anchor="t">
            <a:normAutofit/>
          </a:bodyPr>
          <a:lstStyle/>
          <a:p>
            <a:pPr marL="0" indent="0" algn="l">
              <a:lnSpc>
                <a:spcPts val="1820"/>
              </a:lnSpc>
              <a:buNone/>
            </a:pPr>
            <a:r>
              <a:rPr lang="en-US" sz="1300" dirty="0">
                <a:solidFill>
                  <a:srgbClr val="1B2638"/>
                </a:solidFill>
                <a:latin typeface="Courier New" panose="02070309020205020404" pitchFamily="49" charset="0"/>
                <a:ea typeface="Courier New" panose="02070309020205020404" pitchFamily="49" charset="-122"/>
                <a:cs typeface="Courier New" panose="02070309020205020404" pitchFamily="49" charset="-120"/>
              </a:rPr>
              <a:t>8 LDI</a:t>
            </a:r>
            <a:endParaRPr lang="en-US" sz="1300" dirty="0"/>
          </a:p>
        </p:txBody>
      </p:sp>
      <p:sp>
        <p:nvSpPr>
          <p:cNvPr id="13" name="Text 11"/>
          <p:cNvSpPr/>
          <p:nvPr/>
        </p:nvSpPr>
        <p:spPr>
          <a:xfrm>
            <a:off x="2276475" y="2665095"/>
            <a:ext cx="1377950" cy="336550"/>
          </a:xfrm>
          <a:prstGeom prst="roundRect">
            <a:avLst>
              <a:gd name="adj" fmla="val 14151"/>
            </a:avLst>
          </a:prstGeom>
          <a:solidFill>
            <a:srgbClr val="FFFFFF"/>
          </a:solidFill>
          <a:ln w="6350">
            <a:solidFill>
              <a:srgbClr val="DCE1E8"/>
            </a:solidFill>
            <a:prstDash val="solid"/>
          </a:ln>
        </p:spPr>
        <p:txBody>
          <a:bodyPr wrap="square" lIns="76856" tIns="38756" rIns="26056" bIns="13356" rtlCol="0" anchor="t">
            <a:normAutofit/>
          </a:bodyPr>
          <a:lstStyle/>
          <a:p>
            <a:pPr marL="0" indent="0" algn="l">
              <a:lnSpc>
                <a:spcPts val="1820"/>
              </a:lnSpc>
              <a:buNone/>
            </a:pPr>
            <a:r>
              <a:rPr lang="en-US" sz="1300" dirty="0">
                <a:solidFill>
                  <a:srgbClr val="1B2638"/>
                </a:solidFill>
                <a:latin typeface="Courier New" panose="02070309020205020404" pitchFamily="49" charset="0"/>
                <a:ea typeface="Courier New" panose="02070309020205020404" pitchFamily="49" charset="-122"/>
                <a:cs typeface="Courier New" panose="02070309020205020404" pitchFamily="49" charset="-120"/>
              </a:rPr>
              <a:t>9 ADDI</a:t>
            </a:r>
            <a:endParaRPr lang="en-US" sz="1300" dirty="0"/>
          </a:p>
        </p:txBody>
      </p:sp>
      <p:sp>
        <p:nvSpPr>
          <p:cNvPr id="14" name="Text 12"/>
          <p:cNvSpPr/>
          <p:nvPr/>
        </p:nvSpPr>
        <p:spPr>
          <a:xfrm>
            <a:off x="3736975" y="2665095"/>
            <a:ext cx="1377950" cy="336550"/>
          </a:xfrm>
          <a:prstGeom prst="roundRect">
            <a:avLst>
              <a:gd name="adj" fmla="val 14151"/>
            </a:avLst>
          </a:prstGeom>
          <a:solidFill>
            <a:srgbClr val="FFFFFF"/>
          </a:solidFill>
          <a:ln w="6350">
            <a:solidFill>
              <a:srgbClr val="DCE1E8"/>
            </a:solidFill>
            <a:prstDash val="solid"/>
          </a:ln>
        </p:spPr>
        <p:txBody>
          <a:bodyPr wrap="square" lIns="76856" tIns="38756" rIns="26056" bIns="13356" rtlCol="0" anchor="t">
            <a:normAutofit/>
          </a:bodyPr>
          <a:lstStyle/>
          <a:p>
            <a:pPr marL="0" indent="0" algn="l">
              <a:lnSpc>
                <a:spcPts val="1820"/>
              </a:lnSpc>
              <a:buNone/>
            </a:pPr>
            <a:r>
              <a:rPr lang="en-US" sz="1300" dirty="0">
                <a:solidFill>
                  <a:srgbClr val="1B2638"/>
                </a:solidFill>
                <a:latin typeface="Courier New" panose="02070309020205020404" pitchFamily="49" charset="0"/>
                <a:ea typeface="Courier New" panose="02070309020205020404" pitchFamily="49" charset="-122"/>
                <a:cs typeface="Courier New" panose="02070309020205020404" pitchFamily="49" charset="-120"/>
              </a:rPr>
              <a:t>A LD</a:t>
            </a:r>
            <a:endParaRPr lang="en-US" sz="1300" dirty="0"/>
          </a:p>
        </p:txBody>
      </p:sp>
      <p:sp>
        <p:nvSpPr>
          <p:cNvPr id="15" name="Text 13"/>
          <p:cNvSpPr/>
          <p:nvPr/>
        </p:nvSpPr>
        <p:spPr>
          <a:xfrm>
            <a:off x="5197475" y="2665095"/>
            <a:ext cx="1377950" cy="336550"/>
          </a:xfrm>
          <a:prstGeom prst="roundRect">
            <a:avLst>
              <a:gd name="adj" fmla="val 14151"/>
            </a:avLst>
          </a:prstGeom>
          <a:solidFill>
            <a:srgbClr val="FFFFFF"/>
          </a:solidFill>
          <a:ln w="6350">
            <a:solidFill>
              <a:srgbClr val="DCE1E8"/>
            </a:solidFill>
            <a:prstDash val="solid"/>
          </a:ln>
        </p:spPr>
        <p:txBody>
          <a:bodyPr wrap="square" lIns="76856" tIns="38756" rIns="26056" bIns="13356" rtlCol="0" anchor="t">
            <a:normAutofit/>
          </a:bodyPr>
          <a:lstStyle/>
          <a:p>
            <a:pPr marL="0" indent="0" algn="l">
              <a:lnSpc>
                <a:spcPts val="1820"/>
              </a:lnSpc>
              <a:buNone/>
            </a:pPr>
            <a:r>
              <a:rPr lang="en-US" sz="1300" dirty="0">
                <a:solidFill>
                  <a:srgbClr val="1B2638"/>
                </a:solidFill>
                <a:latin typeface="Courier New" panose="02070309020205020404" pitchFamily="49" charset="0"/>
                <a:ea typeface="Courier New" panose="02070309020205020404" pitchFamily="49" charset="-122"/>
                <a:cs typeface="Courier New" panose="02070309020205020404" pitchFamily="49" charset="-120"/>
              </a:rPr>
              <a:t>B ST</a:t>
            </a:r>
            <a:endParaRPr lang="en-US" sz="1300" dirty="0"/>
          </a:p>
        </p:txBody>
      </p:sp>
      <p:sp>
        <p:nvSpPr>
          <p:cNvPr id="16" name="Text 14"/>
          <p:cNvSpPr/>
          <p:nvPr/>
        </p:nvSpPr>
        <p:spPr>
          <a:xfrm>
            <a:off x="815975" y="3084195"/>
            <a:ext cx="1377950" cy="336550"/>
          </a:xfrm>
          <a:prstGeom prst="roundRect">
            <a:avLst>
              <a:gd name="adj" fmla="val 14151"/>
            </a:avLst>
          </a:prstGeom>
          <a:solidFill>
            <a:srgbClr val="FFFFFF"/>
          </a:solidFill>
          <a:ln w="6350">
            <a:solidFill>
              <a:srgbClr val="DCE1E8"/>
            </a:solidFill>
            <a:prstDash val="solid"/>
          </a:ln>
        </p:spPr>
        <p:txBody>
          <a:bodyPr wrap="square" lIns="76856" tIns="38756" rIns="26056" bIns="13356" rtlCol="0" anchor="t">
            <a:normAutofit/>
          </a:bodyPr>
          <a:lstStyle/>
          <a:p>
            <a:pPr marL="0" indent="0" algn="l">
              <a:lnSpc>
                <a:spcPts val="1820"/>
              </a:lnSpc>
              <a:buNone/>
            </a:pPr>
            <a:r>
              <a:rPr lang="en-US" sz="1300" dirty="0">
                <a:solidFill>
                  <a:srgbClr val="1B2638"/>
                </a:solidFill>
                <a:latin typeface="Courier New" panose="02070309020205020404" pitchFamily="49" charset="0"/>
                <a:ea typeface="Courier New" panose="02070309020205020404" pitchFamily="49" charset="-122"/>
                <a:cs typeface="Courier New" panose="02070309020205020404" pitchFamily="49" charset="-120"/>
              </a:rPr>
              <a:t>C JMP</a:t>
            </a:r>
            <a:endParaRPr lang="en-US" sz="1300" dirty="0"/>
          </a:p>
        </p:txBody>
      </p:sp>
      <p:sp>
        <p:nvSpPr>
          <p:cNvPr id="17" name="Text 15"/>
          <p:cNvSpPr/>
          <p:nvPr/>
        </p:nvSpPr>
        <p:spPr>
          <a:xfrm>
            <a:off x="2276475" y="3084195"/>
            <a:ext cx="1377950" cy="336550"/>
          </a:xfrm>
          <a:prstGeom prst="roundRect">
            <a:avLst>
              <a:gd name="adj" fmla="val 14151"/>
            </a:avLst>
          </a:prstGeom>
          <a:solidFill>
            <a:srgbClr val="FFFFFF"/>
          </a:solidFill>
          <a:ln w="6350">
            <a:solidFill>
              <a:srgbClr val="DCE1E8"/>
            </a:solidFill>
            <a:prstDash val="solid"/>
          </a:ln>
        </p:spPr>
        <p:txBody>
          <a:bodyPr wrap="square" lIns="76856" tIns="38756" rIns="26056" bIns="13356" rtlCol="0" anchor="t">
            <a:normAutofit/>
          </a:bodyPr>
          <a:lstStyle/>
          <a:p>
            <a:pPr marL="0" indent="0" algn="l">
              <a:lnSpc>
                <a:spcPts val="1820"/>
              </a:lnSpc>
              <a:buNone/>
            </a:pPr>
            <a:r>
              <a:rPr lang="en-US" sz="1300" dirty="0">
                <a:solidFill>
                  <a:srgbClr val="1B2638"/>
                </a:solidFill>
                <a:latin typeface="Courier New" panose="02070309020205020404" pitchFamily="49" charset="0"/>
                <a:ea typeface="Courier New" panose="02070309020205020404" pitchFamily="49" charset="-122"/>
                <a:cs typeface="Courier New" panose="02070309020205020404" pitchFamily="49" charset="-120"/>
              </a:rPr>
              <a:t>D BZ</a:t>
            </a:r>
            <a:endParaRPr lang="en-US" sz="1300" dirty="0"/>
          </a:p>
        </p:txBody>
      </p:sp>
      <p:sp>
        <p:nvSpPr>
          <p:cNvPr id="18" name="Text 16"/>
          <p:cNvSpPr/>
          <p:nvPr/>
        </p:nvSpPr>
        <p:spPr>
          <a:xfrm>
            <a:off x="3736975" y="3084195"/>
            <a:ext cx="1377950" cy="336550"/>
          </a:xfrm>
          <a:prstGeom prst="roundRect">
            <a:avLst>
              <a:gd name="adj" fmla="val 14151"/>
            </a:avLst>
          </a:prstGeom>
          <a:solidFill>
            <a:srgbClr val="FFFFFF"/>
          </a:solidFill>
          <a:ln w="6350">
            <a:solidFill>
              <a:srgbClr val="DCE1E8"/>
            </a:solidFill>
            <a:prstDash val="solid"/>
          </a:ln>
        </p:spPr>
        <p:txBody>
          <a:bodyPr wrap="square" lIns="76856" tIns="38756" rIns="26056" bIns="13356" rtlCol="0" anchor="t">
            <a:normAutofit/>
          </a:bodyPr>
          <a:lstStyle/>
          <a:p>
            <a:pPr marL="0" indent="0" algn="l">
              <a:lnSpc>
                <a:spcPts val="1820"/>
              </a:lnSpc>
              <a:buNone/>
            </a:pPr>
            <a:r>
              <a:rPr lang="en-US" sz="1300" dirty="0">
                <a:solidFill>
                  <a:srgbClr val="1B2638"/>
                </a:solidFill>
                <a:latin typeface="Courier New" panose="02070309020205020404" pitchFamily="49" charset="0"/>
                <a:ea typeface="Courier New" panose="02070309020205020404" pitchFamily="49" charset="-122"/>
                <a:cs typeface="Courier New" panose="02070309020205020404" pitchFamily="49" charset="-120"/>
              </a:rPr>
              <a:t>E BNZ</a:t>
            </a:r>
            <a:endParaRPr lang="en-US" sz="1300" dirty="0"/>
          </a:p>
        </p:txBody>
      </p:sp>
      <p:sp>
        <p:nvSpPr>
          <p:cNvPr id="19" name="Text 17"/>
          <p:cNvSpPr/>
          <p:nvPr/>
        </p:nvSpPr>
        <p:spPr>
          <a:xfrm>
            <a:off x="5197475" y="3084195"/>
            <a:ext cx="1377950" cy="336550"/>
          </a:xfrm>
          <a:prstGeom prst="roundRect">
            <a:avLst>
              <a:gd name="adj" fmla="val 14151"/>
            </a:avLst>
          </a:prstGeom>
          <a:solidFill>
            <a:srgbClr val="FFFFFF"/>
          </a:solidFill>
          <a:ln w="6350">
            <a:solidFill>
              <a:srgbClr val="DCE1E8"/>
            </a:solidFill>
            <a:prstDash val="solid"/>
          </a:ln>
        </p:spPr>
        <p:txBody>
          <a:bodyPr wrap="square" lIns="76856" tIns="38756" rIns="26056" bIns="13356" rtlCol="0" anchor="t">
            <a:normAutofit/>
          </a:bodyPr>
          <a:lstStyle/>
          <a:p>
            <a:pPr marL="0" indent="0" algn="l">
              <a:lnSpc>
                <a:spcPts val="1820"/>
              </a:lnSpc>
              <a:buNone/>
            </a:pPr>
            <a:r>
              <a:rPr lang="en-US" sz="1300" dirty="0">
                <a:solidFill>
                  <a:srgbClr val="1B2638"/>
                </a:solidFill>
                <a:latin typeface="Courier New" panose="02070309020205020404" pitchFamily="49" charset="0"/>
                <a:ea typeface="Courier New" panose="02070309020205020404" pitchFamily="49" charset="-122"/>
                <a:cs typeface="Courier New" panose="02070309020205020404" pitchFamily="49" charset="-120"/>
              </a:rPr>
              <a:t>F HLT</a:t>
            </a:r>
            <a:endParaRPr lang="en-US" sz="1300" dirty="0"/>
          </a:p>
        </p:txBody>
      </p:sp>
      <p:sp>
        <p:nvSpPr>
          <p:cNvPr id="20" name="Text 18"/>
          <p:cNvSpPr/>
          <p:nvPr/>
        </p:nvSpPr>
        <p:spPr>
          <a:xfrm>
            <a:off x="910082" y="3601720"/>
            <a:ext cx="5833872" cy="798830"/>
          </a:xfrm>
          <a:prstGeom prst="rect">
            <a:avLst/>
          </a:prstGeom>
          <a:noFill/>
        </p:spPr>
        <p:txBody>
          <a:bodyPr wrap="square" lIns="0" tIns="0" rIns="0" bIns="0" rtlCol="0" anchor="t">
            <a:normAutofit/>
          </a:bodyPr>
          <a:lstStyle/>
          <a:p>
            <a:pPr marL="156845" indent="-156845" algn="l">
              <a:lnSpc>
                <a:spcPts val="2030"/>
              </a:lnSpc>
              <a:buSzPct val="100000"/>
              <a:buChar char="•"/>
            </a:pPr>
            <a:r>
              <a:rPr lang="en-US" sz="1400" dirty="0">
                <a:solidFill>
                  <a:srgbClr val="3E4A5C"/>
                </a:solidFill>
                <a:latin typeface="Arial" panose="020B0604020202020204" pitchFamily="34" charset="0"/>
                <a:ea typeface="Arial" panose="020B0604020202020204" pitchFamily="34" charset="-122"/>
                <a:cs typeface="Arial" panose="020B0604020202020204" pitchFamily="34" charset="-120"/>
              </a:rPr>
              <a:t>8 registers R0–R7, 8 bits each; flags Z and C</a:t>
            </a:r>
            <a:endParaRPr lang="en-US" sz="1400" dirty="0"/>
          </a:p>
          <a:p>
            <a:pPr marL="156845" indent="-156845" algn="l">
              <a:lnSpc>
                <a:spcPts val="2030"/>
              </a:lnSpc>
              <a:buSzPct val="100000"/>
              <a:buChar char="•"/>
            </a:pPr>
            <a:r>
              <a:rPr lang="en-US" sz="1400" dirty="0">
                <a:solidFill>
                  <a:srgbClr val="3E4A5C"/>
                </a:solidFill>
                <a:latin typeface="Arial" panose="020B0604020202020204" pitchFamily="34" charset="0"/>
                <a:ea typeface="Arial" panose="020B0604020202020204" pitchFamily="34" charset="-122"/>
                <a:cs typeface="Arial" panose="020B0604020202020204" pitchFamily="34" charset="-120"/>
              </a:rPr>
              <a:t>256 × 16-bit instruction memory, 256 × 8-bit data memory</a:t>
            </a:r>
            <a:endParaRPr lang="en-US" sz="1400" dirty="0"/>
          </a:p>
          <a:p>
            <a:pPr marL="156845" indent="-156845" algn="l">
              <a:lnSpc>
                <a:spcPts val="2030"/>
              </a:lnSpc>
              <a:buSzPct val="100000"/>
              <a:buChar char="•"/>
            </a:pPr>
            <a:r>
              <a:rPr lang="en-US" sz="1400" dirty="0">
                <a:solidFill>
                  <a:srgbClr val="3E4A5C"/>
                </a:solidFill>
                <a:latin typeface="Arial" panose="020B0604020202020204" pitchFamily="34" charset="0"/>
                <a:ea typeface="Arial" panose="020B0604020202020204" pitchFamily="34" charset="-122"/>
                <a:cs typeface="Arial" panose="020B0604020202020204" pitchFamily="34" charset="-120"/>
              </a:rPr>
              <a:t>The upper 4 bits of every instruction are the opcode</a:t>
            </a:r>
            <a:endParaRPr lang="en-US" sz="1400" dirty="0"/>
          </a:p>
        </p:txBody>
      </p:sp>
      <p:sp>
        <p:nvSpPr>
          <p:cNvPr id="21" name="Shape 19"/>
          <p:cNvSpPr/>
          <p:nvPr/>
        </p:nvSpPr>
        <p:spPr>
          <a:xfrm>
            <a:off x="6934200" y="1823720"/>
            <a:ext cx="4445000" cy="3482340"/>
          </a:xfrm>
          <a:prstGeom prst="roundRect">
            <a:avLst>
              <a:gd name="adj" fmla="val 2918"/>
            </a:avLst>
          </a:prstGeom>
          <a:solidFill>
            <a:srgbClr val="13213A"/>
          </a:solidFill>
        </p:spPr>
      </p:sp>
      <p:sp>
        <p:nvSpPr>
          <p:cNvPr id="22" name="Text 20"/>
          <p:cNvSpPr/>
          <p:nvPr/>
        </p:nvSpPr>
        <p:spPr>
          <a:xfrm>
            <a:off x="7213600" y="2103120"/>
            <a:ext cx="4002786" cy="23876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F2A65A"/>
                </a:solidFill>
                <a:latin typeface="Arial" panose="020B0604020202020204" pitchFamily="34" charset="0"/>
                <a:ea typeface="Arial" panose="020B0604020202020204" pitchFamily="34" charset="-122"/>
                <a:cs typeface="Arial" panose="020B0604020202020204" pitchFamily="34" charset="-120"/>
              </a:rPr>
              <a:t>DECODING EXAMPLE</a:t>
            </a:r>
            <a:endParaRPr lang="en-US" sz="1200" dirty="0"/>
          </a:p>
        </p:txBody>
      </p:sp>
      <p:sp>
        <p:nvSpPr>
          <p:cNvPr id="23" name="Text 21"/>
          <p:cNvSpPr/>
          <p:nvPr/>
        </p:nvSpPr>
        <p:spPr>
          <a:xfrm>
            <a:off x="7213600" y="2468880"/>
            <a:ext cx="4002786" cy="665480"/>
          </a:xfrm>
          <a:prstGeom prst="rect">
            <a:avLst/>
          </a:prstGeom>
          <a:noFill/>
        </p:spPr>
        <p:txBody>
          <a:bodyPr wrap="square" lIns="0" tIns="0" rIns="0" bIns="0" rtlCol="0" anchor="t">
            <a:normAutofit/>
          </a:bodyPr>
          <a:lstStyle/>
          <a:p>
            <a:pPr marL="0" indent="0" algn="l">
              <a:lnSpc>
                <a:spcPts val="5040"/>
              </a:lnSpc>
              <a:buNone/>
            </a:pPr>
            <a:r>
              <a:rPr lang="en-US" sz="3600" b="1" dirty="0">
                <a:solidFill>
                  <a:srgbClr val="F5F6F2"/>
                </a:solidFill>
                <a:latin typeface="Courier New" panose="02070309020205020404" pitchFamily="49" charset="0"/>
                <a:ea typeface="Courier New" panose="02070309020205020404" pitchFamily="49" charset="-122"/>
                <a:cs typeface="Courier New" panose="02070309020205020404" pitchFamily="49" charset="-120"/>
              </a:rPr>
              <a:t>0x823C</a:t>
            </a:r>
            <a:endParaRPr lang="en-US" sz="3600" dirty="0"/>
          </a:p>
        </p:txBody>
      </p:sp>
      <p:sp>
        <p:nvSpPr>
          <p:cNvPr id="24" name="Text 22"/>
          <p:cNvSpPr/>
          <p:nvPr/>
        </p:nvSpPr>
        <p:spPr>
          <a:xfrm>
            <a:off x="7213600" y="3261361"/>
            <a:ext cx="604599" cy="375920"/>
          </a:xfrm>
          <a:prstGeom prst="rect">
            <a:avLst/>
          </a:prstGeom>
          <a:solidFill>
            <a:srgbClr val="F2A65A"/>
          </a:solidFill>
        </p:spPr>
        <p:txBody>
          <a:bodyPr wrap="none" lIns="0" tIns="0" rIns="0" bIns="0" rtlCol="0" anchor="ctr">
            <a:normAutofit/>
          </a:bodyPr>
          <a:lstStyle/>
          <a:p>
            <a:pPr marL="0" indent="0" algn="ctr">
              <a:lnSpc>
                <a:spcPts val="1960"/>
              </a:lnSpc>
              <a:buNone/>
            </a:pPr>
            <a:r>
              <a:rPr lang="en-US" sz="1400" dirty="0">
                <a:solidFill>
                  <a:srgbClr val="13213A"/>
                </a:solidFill>
                <a:latin typeface="Courier New" panose="02070309020205020404" pitchFamily="49" charset="0"/>
                <a:ea typeface="Courier New" panose="02070309020205020404" pitchFamily="49" charset="-122"/>
                <a:cs typeface="Courier New" panose="02070309020205020404" pitchFamily="49" charset="-120"/>
              </a:rPr>
              <a:t>1000</a:t>
            </a:r>
            <a:endParaRPr lang="en-US" sz="1400" dirty="0"/>
          </a:p>
        </p:txBody>
      </p:sp>
      <p:sp>
        <p:nvSpPr>
          <p:cNvPr id="25" name="Text 23"/>
          <p:cNvSpPr/>
          <p:nvPr/>
        </p:nvSpPr>
        <p:spPr>
          <a:xfrm>
            <a:off x="7818200" y="3261361"/>
            <a:ext cx="497919" cy="375920"/>
          </a:xfrm>
          <a:prstGeom prst="rect">
            <a:avLst/>
          </a:prstGeom>
          <a:solidFill>
            <a:srgbClr val="9CC3EE"/>
          </a:solidFill>
        </p:spPr>
        <p:txBody>
          <a:bodyPr wrap="none" lIns="0" tIns="0" rIns="0" bIns="0" rtlCol="0" anchor="ctr">
            <a:normAutofit/>
          </a:bodyPr>
          <a:lstStyle/>
          <a:p>
            <a:pPr marL="0" indent="0" algn="ctr">
              <a:lnSpc>
                <a:spcPts val="1960"/>
              </a:lnSpc>
              <a:buNone/>
            </a:pPr>
            <a:r>
              <a:rPr lang="en-US" sz="1400" dirty="0">
                <a:solidFill>
                  <a:srgbClr val="13213A"/>
                </a:solidFill>
                <a:latin typeface="Courier New" panose="02070309020205020404" pitchFamily="49" charset="0"/>
                <a:ea typeface="Courier New" panose="02070309020205020404" pitchFamily="49" charset="-122"/>
                <a:cs typeface="Courier New" panose="02070309020205020404" pitchFamily="49" charset="-120"/>
              </a:rPr>
              <a:t>001</a:t>
            </a:r>
            <a:endParaRPr lang="en-US" sz="1400" dirty="0"/>
          </a:p>
        </p:txBody>
      </p:sp>
      <p:sp>
        <p:nvSpPr>
          <p:cNvPr id="26" name="Text 24"/>
          <p:cNvSpPr/>
          <p:nvPr/>
        </p:nvSpPr>
        <p:spPr>
          <a:xfrm>
            <a:off x="8316119" y="3261361"/>
            <a:ext cx="284559" cy="375920"/>
          </a:xfrm>
          <a:prstGeom prst="rect">
            <a:avLst/>
          </a:prstGeom>
          <a:solidFill>
            <a:srgbClr val="D3D9E2"/>
          </a:solidFill>
        </p:spPr>
        <p:txBody>
          <a:bodyPr wrap="none" lIns="0" tIns="0" rIns="0" bIns="0" rtlCol="0" anchor="ctr">
            <a:normAutofit/>
          </a:bodyPr>
          <a:lstStyle/>
          <a:p>
            <a:pPr marL="0" indent="0" algn="ctr">
              <a:lnSpc>
                <a:spcPts val="1960"/>
              </a:lnSpc>
              <a:buNone/>
            </a:pPr>
            <a:r>
              <a:rPr lang="en-US" sz="1400" dirty="0">
                <a:solidFill>
                  <a:srgbClr val="13213A"/>
                </a:solidFill>
                <a:latin typeface="Courier New" panose="02070309020205020404" pitchFamily="49" charset="0"/>
                <a:ea typeface="Courier New" panose="02070309020205020404" pitchFamily="49" charset="-122"/>
                <a:cs typeface="Courier New" panose="02070309020205020404" pitchFamily="49" charset="-120"/>
              </a:rPr>
              <a:t>0</a:t>
            </a:r>
            <a:endParaRPr lang="en-US" sz="1400" dirty="0"/>
          </a:p>
        </p:txBody>
      </p:sp>
      <p:sp>
        <p:nvSpPr>
          <p:cNvPr id="27" name="Text 25"/>
          <p:cNvSpPr/>
          <p:nvPr/>
        </p:nvSpPr>
        <p:spPr>
          <a:xfrm>
            <a:off x="8600678" y="3261361"/>
            <a:ext cx="1031399" cy="375920"/>
          </a:xfrm>
          <a:prstGeom prst="rect">
            <a:avLst/>
          </a:prstGeom>
          <a:solidFill>
            <a:srgbClr val="B7E4C7"/>
          </a:solidFill>
        </p:spPr>
        <p:txBody>
          <a:bodyPr wrap="none" lIns="0" tIns="0" rIns="0" bIns="0" rtlCol="0" anchor="ctr">
            <a:normAutofit/>
          </a:bodyPr>
          <a:lstStyle/>
          <a:p>
            <a:pPr marL="0" indent="0" algn="ctr">
              <a:lnSpc>
                <a:spcPts val="1960"/>
              </a:lnSpc>
              <a:buNone/>
            </a:pPr>
            <a:r>
              <a:rPr lang="en-US" sz="1400" dirty="0">
                <a:solidFill>
                  <a:srgbClr val="13213A"/>
                </a:solidFill>
                <a:latin typeface="Courier New" panose="02070309020205020404" pitchFamily="49" charset="0"/>
                <a:ea typeface="Courier New" panose="02070309020205020404" pitchFamily="49" charset="-122"/>
                <a:cs typeface="Courier New" panose="02070309020205020404" pitchFamily="49" charset="-120"/>
              </a:rPr>
              <a:t>00111100</a:t>
            </a:r>
            <a:endParaRPr lang="en-US" sz="1400" dirty="0"/>
          </a:p>
        </p:txBody>
      </p:sp>
      <p:sp>
        <p:nvSpPr>
          <p:cNvPr id="28" name="Text 26"/>
          <p:cNvSpPr/>
          <p:nvPr/>
        </p:nvSpPr>
        <p:spPr>
          <a:xfrm>
            <a:off x="7310882" y="3789680"/>
            <a:ext cx="3897884" cy="825500"/>
          </a:xfrm>
          <a:prstGeom prst="rect">
            <a:avLst/>
          </a:prstGeom>
          <a:noFill/>
        </p:spPr>
        <p:txBody>
          <a:bodyPr wrap="square" lIns="0" tIns="0" rIns="0" bIns="0" rtlCol="0" anchor="t">
            <a:normAutofit/>
          </a:bodyPr>
          <a:lstStyle/>
          <a:p>
            <a:pPr marL="156845" indent="-156845" algn="l">
              <a:lnSpc>
                <a:spcPts val="2100"/>
              </a:lnSpc>
              <a:buSzPct val="100000"/>
              <a:buChar char="•"/>
            </a:pPr>
            <a:r>
              <a:rPr lang="en-US" sz="1400" dirty="0">
                <a:solidFill>
                  <a:srgbClr val="F2A65A"/>
                </a:solidFill>
                <a:latin typeface="Arial" panose="020B0604020202020204" pitchFamily="34" charset="0"/>
                <a:ea typeface="Arial" panose="020B0604020202020204" pitchFamily="34" charset="-122"/>
                <a:cs typeface="Arial" panose="020B0604020202020204" pitchFamily="34" charset="-120"/>
              </a:rPr>
              <a:t>opcode 8</a:t>
            </a:r>
            <a:r>
              <a:rPr lang="en-US" sz="1400" dirty="0">
                <a:solidFill>
                  <a:srgbClr val="D6DEE9"/>
                </a:solidFill>
                <a:latin typeface="Arial" panose="020B0604020202020204" pitchFamily="34" charset="0"/>
                <a:ea typeface="Arial" panose="020B0604020202020204" pitchFamily="34" charset="-122"/>
                <a:cs typeface="Arial" panose="020B0604020202020204" pitchFamily="34" charset="-120"/>
              </a:rPr>
              <a:t> → LDI</a:t>
            </a:r>
            <a:endParaRPr lang="en-US" sz="1400" dirty="0"/>
          </a:p>
          <a:p>
            <a:pPr marL="156845" indent="-156845" algn="l">
              <a:lnSpc>
                <a:spcPts val="2100"/>
              </a:lnSpc>
              <a:buSzPct val="100000"/>
              <a:buChar char="•"/>
            </a:pPr>
            <a:r>
              <a:rPr lang="en-US" sz="1400" dirty="0">
                <a:solidFill>
                  <a:srgbClr val="9CC3EE"/>
                </a:solidFill>
                <a:latin typeface="Arial" panose="020B0604020202020204" pitchFamily="34" charset="0"/>
                <a:ea typeface="Arial" panose="020B0604020202020204" pitchFamily="34" charset="-122"/>
                <a:cs typeface="Arial" panose="020B0604020202020204" pitchFamily="34" charset="-120"/>
              </a:rPr>
              <a:t>rd = 001</a:t>
            </a:r>
            <a:r>
              <a:rPr lang="en-US" sz="1400" dirty="0">
                <a:solidFill>
                  <a:srgbClr val="D6DEE9"/>
                </a:solidFill>
                <a:latin typeface="Arial" panose="020B0604020202020204" pitchFamily="34" charset="0"/>
                <a:ea typeface="Arial" panose="020B0604020202020204" pitchFamily="34" charset="-122"/>
                <a:cs typeface="Arial" panose="020B0604020202020204" pitchFamily="34" charset="-120"/>
              </a:rPr>
              <a:t> → R1</a:t>
            </a:r>
            <a:endParaRPr lang="en-US" sz="1400" dirty="0"/>
          </a:p>
          <a:p>
            <a:pPr marL="156845" indent="-156845" algn="l">
              <a:lnSpc>
                <a:spcPts val="2100"/>
              </a:lnSpc>
              <a:buSzPct val="100000"/>
              <a:buChar char="•"/>
            </a:pPr>
            <a:r>
              <a:rPr lang="en-US" sz="1400" dirty="0">
                <a:solidFill>
                  <a:srgbClr val="B7E4C7"/>
                </a:solidFill>
                <a:latin typeface="Arial" panose="020B0604020202020204" pitchFamily="34" charset="0"/>
                <a:ea typeface="Arial" panose="020B0604020202020204" pitchFamily="34" charset="-122"/>
                <a:cs typeface="Arial" panose="020B0604020202020204" pitchFamily="34" charset="-120"/>
              </a:rPr>
              <a:t>imm8 = 0x3C</a:t>
            </a:r>
            <a:endParaRPr lang="en-US" sz="1400" dirty="0"/>
          </a:p>
        </p:txBody>
      </p:sp>
      <p:sp>
        <p:nvSpPr>
          <p:cNvPr id="29" name="Text 27"/>
          <p:cNvSpPr/>
          <p:nvPr/>
        </p:nvSpPr>
        <p:spPr>
          <a:xfrm>
            <a:off x="7213600" y="4742180"/>
            <a:ext cx="4002786" cy="309880"/>
          </a:xfrm>
          <a:prstGeom prst="rect">
            <a:avLst/>
          </a:prstGeom>
          <a:noFill/>
        </p:spPr>
        <p:txBody>
          <a:bodyPr wrap="square" lIns="0" tIns="0" rIns="0" bIns="0" rtlCol="0" anchor="t">
            <a:normAutofit/>
          </a:bodyPr>
          <a:lstStyle/>
          <a:p>
            <a:pPr marL="0" indent="0" algn="l">
              <a:lnSpc>
                <a:spcPts val="2240"/>
              </a:lnSpc>
              <a:buNone/>
            </a:pPr>
            <a:r>
              <a:rPr lang="en-US" sz="1600" b="1" dirty="0">
                <a:solidFill>
                  <a:srgbClr val="F5F6F2"/>
                </a:solidFill>
                <a:latin typeface="Courier New" panose="02070309020205020404" pitchFamily="49" charset="0"/>
                <a:ea typeface="Courier New" panose="02070309020205020404" pitchFamily="49" charset="-122"/>
                <a:cs typeface="Courier New" panose="02070309020205020404" pitchFamily="49" charset="-120"/>
              </a:rPr>
              <a:t>LDI R1, 0x3C</a:t>
            </a:r>
            <a:endParaRPr lang="en-US" sz="1600" dirty="0"/>
          </a:p>
        </p:txBody>
      </p:sp>
      <p:sp>
        <p:nvSpPr>
          <p:cNvPr id="30" name="Text 28"/>
          <p:cNvSpPr/>
          <p:nvPr/>
        </p:nvSpPr>
        <p:spPr>
          <a:xfrm>
            <a:off x="812800" y="6238239"/>
            <a:ext cx="588645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8-bit 5-Stage Pipelined RISC Processor</a:t>
            </a:r>
            <a:endParaRPr lang="en-US" sz="1200" dirty="0"/>
          </a:p>
        </p:txBody>
      </p:sp>
      <p:sp>
        <p:nvSpPr>
          <p:cNvPr id="31" name="Text 29"/>
          <p:cNvSpPr/>
          <p:nvPr/>
        </p:nvSpPr>
        <p:spPr>
          <a:xfrm>
            <a:off x="7454900" y="6238239"/>
            <a:ext cx="39243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Lê Kỳ Dũng · SE190745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A9520B"/>
                </a:solidFill>
                <a:latin typeface="Arial" panose="020B0604020202020204" pitchFamily="34" charset="0"/>
                <a:ea typeface="Arial" panose="020B0604020202020204" pitchFamily="34" charset="-122"/>
                <a:cs typeface="Arial" panose="020B0604020202020204" pitchFamily="34" charset="-120"/>
              </a:rPr>
              <a:t>MICROARCHITECTURE</a:t>
            </a:r>
            <a:endParaRPr lang="en-US" sz="1200" dirty="0"/>
          </a:p>
        </p:txBody>
      </p:sp>
      <p:sp>
        <p:nvSpPr>
          <p:cNvPr id="3" name="Text 1"/>
          <p:cNvSpPr/>
          <p:nvPr>
            <p:ph type="title"/>
          </p:nvPr>
        </p:nvSpPr>
        <p:spPr>
          <a:xfrm>
            <a:off x="812800" y="1102361"/>
            <a:ext cx="10883392" cy="492760"/>
          </a:xfrm>
          <a:prstGeom prst="rect">
            <a:avLst/>
          </a:prstGeom>
          <a:noFill/>
        </p:spPr>
        <p:txBody>
          <a:bodyPr wrap="square" lIns="0" tIns="0" rIns="0" bIns="0" rtlCol="0" anchor="t">
            <a:normAutofit/>
          </a:bodyPr>
          <a:lstStyle/>
          <a:p>
            <a:pPr marL="0" indent="0" algn="l">
              <a:lnSpc>
                <a:spcPts val="3680"/>
              </a:lnSpc>
              <a:buNone/>
            </a:pPr>
            <a:r>
              <a:rPr lang="en-US" sz="3200" b="1" i="0" dirty="0">
                <a:solidFill>
                  <a:srgbClr val="13213A"/>
                </a:solidFill>
                <a:latin typeface="Arial" panose="020B0604020202020204" pitchFamily="34" charset="0"/>
                <a:ea typeface="Arial" panose="020B0604020202020204" pitchFamily="34" charset="-122"/>
                <a:cs typeface="Arial" panose="020B0604020202020204" pitchFamily="34" charset="-120"/>
              </a:rPr>
              <a:t>The pipelined datapath</a:t>
            </a:r>
            <a:endParaRPr lang="en-US" sz="3200" dirty="0"/>
          </a:p>
        </p:txBody>
      </p:sp>
      <p:sp>
        <p:nvSpPr>
          <p:cNvPr id="4" name="Shape 2"/>
          <p:cNvSpPr/>
          <p:nvPr/>
        </p:nvSpPr>
        <p:spPr>
          <a:xfrm>
            <a:off x="812800" y="1823721"/>
            <a:ext cx="7874000" cy="3943350"/>
          </a:xfrm>
          <a:prstGeom prst="roundRect">
            <a:avLst>
              <a:gd name="adj" fmla="val 1932"/>
            </a:avLst>
          </a:prstGeom>
          <a:solidFill>
            <a:srgbClr val="FFFFFF"/>
          </a:solidFill>
        </p:spPr>
      </p:sp>
      <p:pic>
        <p:nvPicPr>
          <p:cNvPr id="5" name="Image 0" descr="Pipelined datapath: PC, instruction memory, IF/ID, control unit and register file, ID/EX, forwarding muxes and ALU, EX/MEM, data memory, MEM/WB, write-back mux, with forwarding paths and the hazard unit"/>
          <p:cNvPicPr>
            <a:picLocks noChangeAspect="1"/>
          </p:cNvPicPr>
          <p:nvPr/>
        </p:nvPicPr>
        <p:blipFill>
          <a:blip r:embed="rId1"/>
          <a:srcRect l="-87" r="-87"/>
          <a:stretch>
            <a:fillRect/>
          </a:stretch>
        </p:blipFill>
        <p:spPr>
          <a:xfrm>
            <a:off x="819150" y="1830071"/>
            <a:ext cx="7861300" cy="3930650"/>
          </a:xfrm>
          <a:prstGeom prst="roundRect">
            <a:avLst>
              <a:gd name="adj" fmla="val 1777"/>
            </a:avLst>
          </a:prstGeom>
        </p:spPr>
      </p:pic>
      <p:sp>
        <p:nvSpPr>
          <p:cNvPr id="6" name="Shape 3"/>
          <p:cNvSpPr/>
          <p:nvPr/>
        </p:nvSpPr>
        <p:spPr>
          <a:xfrm>
            <a:off x="815975" y="1826896"/>
            <a:ext cx="7867650" cy="3937000"/>
          </a:xfrm>
          <a:prstGeom prst="roundRect">
            <a:avLst>
              <a:gd name="adj" fmla="val 1855"/>
            </a:avLst>
          </a:prstGeom>
          <a:noFill/>
          <a:ln w="6350">
            <a:solidFill>
              <a:srgbClr val="DCE1E8"/>
            </a:solidFill>
            <a:prstDash val="solid"/>
          </a:ln>
        </p:spPr>
      </p:sp>
      <p:sp>
        <p:nvSpPr>
          <p:cNvPr id="7" name="Text 4"/>
          <p:cNvSpPr/>
          <p:nvPr/>
        </p:nvSpPr>
        <p:spPr>
          <a:xfrm>
            <a:off x="8940800" y="2172336"/>
            <a:ext cx="2511552" cy="238760"/>
          </a:xfrm>
          <a:prstGeom prst="rect">
            <a:avLst/>
          </a:prstGeom>
          <a:noFill/>
        </p:spPr>
        <p:txBody>
          <a:bodyPr wrap="square" lIns="0" tIns="0" rIns="0" bIns="0" rtlCol="0" anchor="t">
            <a:normAutofit/>
          </a:bodyPr>
          <a:lstStyle/>
          <a:p>
            <a:pPr marL="0" indent="0" algn="l">
              <a:lnSpc>
                <a:spcPts val="1680"/>
              </a:lnSpc>
              <a:buNone/>
            </a:pPr>
            <a:r>
              <a:rPr lang="en-US" sz="1400" b="1" dirty="0">
                <a:solidFill>
                  <a:srgbClr val="13213A"/>
                </a:solidFill>
                <a:latin typeface="Arial" panose="020B0604020202020204" pitchFamily="34" charset="0"/>
                <a:ea typeface="Arial" panose="020B0604020202020204" pitchFamily="34" charset="-122"/>
                <a:cs typeface="Arial" panose="020B0604020202020204" pitchFamily="34" charset="-120"/>
              </a:rPr>
              <a:t>Grey bars</a:t>
            </a:r>
            <a:endParaRPr lang="en-US" sz="1400" dirty="0"/>
          </a:p>
        </p:txBody>
      </p:sp>
      <p:sp>
        <p:nvSpPr>
          <p:cNvPr id="8" name="Text 5"/>
          <p:cNvSpPr/>
          <p:nvPr/>
        </p:nvSpPr>
        <p:spPr>
          <a:xfrm>
            <a:off x="8940800" y="2423796"/>
            <a:ext cx="2511552" cy="4521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3E4A5C"/>
                </a:solidFill>
                <a:latin typeface="Arial" panose="020B0604020202020204" pitchFamily="34" charset="0"/>
                <a:ea typeface="Arial" panose="020B0604020202020204" pitchFamily="34" charset="-122"/>
                <a:cs typeface="Arial" panose="020B0604020202020204" pitchFamily="34" charset="-120"/>
              </a:rPr>
              <a:t>4 pipeline registers: IF/ID, ID/EX, EX/MEM, MEM/WB</a:t>
            </a:r>
            <a:endParaRPr lang="en-US" sz="1200" dirty="0"/>
          </a:p>
        </p:txBody>
      </p:sp>
      <p:sp>
        <p:nvSpPr>
          <p:cNvPr id="9" name="Text 6"/>
          <p:cNvSpPr/>
          <p:nvPr/>
        </p:nvSpPr>
        <p:spPr>
          <a:xfrm>
            <a:off x="8940800" y="3028314"/>
            <a:ext cx="2511552" cy="238760"/>
          </a:xfrm>
          <a:prstGeom prst="rect">
            <a:avLst/>
          </a:prstGeom>
          <a:noFill/>
        </p:spPr>
        <p:txBody>
          <a:bodyPr wrap="square" lIns="0" tIns="0" rIns="0" bIns="0" rtlCol="0" anchor="t">
            <a:normAutofit/>
          </a:bodyPr>
          <a:lstStyle/>
          <a:p>
            <a:pPr marL="0" indent="0" algn="l">
              <a:lnSpc>
                <a:spcPts val="1680"/>
              </a:lnSpc>
              <a:buNone/>
            </a:pPr>
            <a:r>
              <a:rPr lang="en-US" sz="1400" b="1" dirty="0">
                <a:solidFill>
                  <a:srgbClr val="B3261E"/>
                </a:solidFill>
                <a:latin typeface="Arial" panose="020B0604020202020204" pitchFamily="34" charset="0"/>
                <a:ea typeface="Arial" panose="020B0604020202020204" pitchFamily="34" charset="-122"/>
                <a:cs typeface="Arial" panose="020B0604020202020204" pitchFamily="34" charset="-120"/>
              </a:rPr>
              <a:t>Red lines</a:t>
            </a:r>
            <a:endParaRPr lang="en-US" sz="1400" dirty="0"/>
          </a:p>
        </p:txBody>
      </p:sp>
      <p:sp>
        <p:nvSpPr>
          <p:cNvPr id="10" name="Text 7"/>
          <p:cNvSpPr/>
          <p:nvPr/>
        </p:nvSpPr>
        <p:spPr>
          <a:xfrm>
            <a:off x="8940800" y="3279775"/>
            <a:ext cx="2511552" cy="4521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3E4A5C"/>
                </a:solidFill>
                <a:latin typeface="Arial" panose="020B0604020202020204" pitchFamily="34" charset="0"/>
                <a:ea typeface="Arial" panose="020B0604020202020204" pitchFamily="34" charset="-122"/>
                <a:cs typeface="Arial" panose="020B0604020202020204" pitchFamily="34" charset="-120"/>
              </a:rPr>
              <a:t>Forwarding from EX/MEM and MEM/WB back to the ALU inputs</a:t>
            </a:r>
            <a:endParaRPr lang="en-US" sz="1200" dirty="0"/>
          </a:p>
        </p:txBody>
      </p:sp>
      <p:sp>
        <p:nvSpPr>
          <p:cNvPr id="11" name="Text 8"/>
          <p:cNvSpPr/>
          <p:nvPr/>
        </p:nvSpPr>
        <p:spPr>
          <a:xfrm>
            <a:off x="8940800" y="3884296"/>
            <a:ext cx="2511552" cy="238760"/>
          </a:xfrm>
          <a:prstGeom prst="rect">
            <a:avLst/>
          </a:prstGeom>
          <a:noFill/>
        </p:spPr>
        <p:txBody>
          <a:bodyPr wrap="square" lIns="0" tIns="0" rIns="0" bIns="0" rtlCol="0" anchor="t">
            <a:normAutofit/>
          </a:bodyPr>
          <a:lstStyle/>
          <a:p>
            <a:pPr marL="0" indent="0" algn="l">
              <a:lnSpc>
                <a:spcPts val="1680"/>
              </a:lnSpc>
              <a:buNone/>
            </a:pPr>
            <a:r>
              <a:rPr lang="en-US" sz="1400" b="1" dirty="0">
                <a:solidFill>
                  <a:srgbClr val="1F5FAE"/>
                </a:solidFill>
                <a:latin typeface="Arial" panose="020B0604020202020204" pitchFamily="34" charset="0"/>
                <a:ea typeface="Arial" panose="020B0604020202020204" pitchFamily="34" charset="-122"/>
                <a:cs typeface="Arial" panose="020B0604020202020204" pitchFamily="34" charset="-120"/>
              </a:rPr>
              <a:t>Blue dashed line</a:t>
            </a:r>
            <a:endParaRPr lang="en-US" sz="1400" dirty="0"/>
          </a:p>
        </p:txBody>
      </p:sp>
      <p:sp>
        <p:nvSpPr>
          <p:cNvPr id="12" name="Text 9"/>
          <p:cNvSpPr/>
          <p:nvPr/>
        </p:nvSpPr>
        <p:spPr>
          <a:xfrm>
            <a:off x="8940800" y="4135757"/>
            <a:ext cx="2511552" cy="4521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3E4A5C"/>
                </a:solidFill>
                <a:latin typeface="Arial" panose="020B0604020202020204" pitchFamily="34" charset="0"/>
                <a:ea typeface="Arial" panose="020B0604020202020204" pitchFamily="34" charset="-122"/>
                <a:cs typeface="Arial" panose="020B0604020202020204" pitchFamily="34" charset="-120"/>
              </a:rPr>
              <a:t>Branch target and flush, decided in EX</a:t>
            </a:r>
            <a:endParaRPr lang="en-US" sz="1200" dirty="0"/>
          </a:p>
        </p:txBody>
      </p:sp>
      <p:sp>
        <p:nvSpPr>
          <p:cNvPr id="13" name="Text 10"/>
          <p:cNvSpPr/>
          <p:nvPr/>
        </p:nvSpPr>
        <p:spPr>
          <a:xfrm>
            <a:off x="8940800" y="4740275"/>
            <a:ext cx="2511552" cy="238760"/>
          </a:xfrm>
          <a:prstGeom prst="rect">
            <a:avLst/>
          </a:prstGeom>
          <a:noFill/>
        </p:spPr>
        <p:txBody>
          <a:bodyPr wrap="square" lIns="0" tIns="0" rIns="0" bIns="0" rtlCol="0" anchor="t">
            <a:normAutofit/>
          </a:bodyPr>
          <a:lstStyle/>
          <a:p>
            <a:pPr marL="0" indent="0" algn="l">
              <a:lnSpc>
                <a:spcPts val="1680"/>
              </a:lnSpc>
              <a:buNone/>
            </a:pPr>
            <a:r>
              <a:rPr lang="en-US" sz="1400" b="1" dirty="0">
                <a:solidFill>
                  <a:srgbClr val="A9520B"/>
                </a:solidFill>
                <a:latin typeface="Arial" panose="020B0604020202020204" pitchFamily="34" charset="0"/>
                <a:ea typeface="Arial" panose="020B0604020202020204" pitchFamily="34" charset="-122"/>
                <a:cs typeface="Arial" panose="020B0604020202020204" pitchFamily="34" charset="-120"/>
              </a:rPr>
              <a:t>Hazard unit</a:t>
            </a:r>
            <a:endParaRPr lang="en-US" sz="1400" dirty="0"/>
          </a:p>
        </p:txBody>
      </p:sp>
      <p:sp>
        <p:nvSpPr>
          <p:cNvPr id="14" name="Text 11"/>
          <p:cNvSpPr/>
          <p:nvPr/>
        </p:nvSpPr>
        <p:spPr>
          <a:xfrm>
            <a:off x="8940800" y="4991736"/>
            <a:ext cx="2511552" cy="4521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3E4A5C"/>
                </a:solidFill>
                <a:latin typeface="Arial" panose="020B0604020202020204" pitchFamily="34" charset="0"/>
                <a:ea typeface="Arial" panose="020B0604020202020204" pitchFamily="34" charset="-122"/>
                <a:cs typeface="Arial" panose="020B0604020202020204" pitchFamily="34" charset="-120"/>
              </a:rPr>
              <a:t>Chooses forwarding and stalls on load-use</a:t>
            </a:r>
            <a:endParaRPr lang="en-US" sz="1200" dirty="0"/>
          </a:p>
        </p:txBody>
      </p:sp>
      <p:sp>
        <p:nvSpPr>
          <p:cNvPr id="15" name="Text 12"/>
          <p:cNvSpPr/>
          <p:nvPr/>
        </p:nvSpPr>
        <p:spPr>
          <a:xfrm>
            <a:off x="812800" y="6238239"/>
            <a:ext cx="588645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8-bit 5-Stage Pipelined RISC Processor</a:t>
            </a:r>
            <a:endParaRPr lang="en-US" sz="1200" dirty="0"/>
          </a:p>
        </p:txBody>
      </p:sp>
      <p:sp>
        <p:nvSpPr>
          <p:cNvPr id="16" name="Text 13"/>
          <p:cNvSpPr/>
          <p:nvPr/>
        </p:nvSpPr>
        <p:spPr>
          <a:xfrm>
            <a:off x="7454900" y="6238239"/>
            <a:ext cx="39243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Lê Kỳ Dũng · SE190745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A9520B"/>
                </a:solidFill>
                <a:latin typeface="Arial" panose="020B0604020202020204" pitchFamily="34" charset="0"/>
                <a:ea typeface="Arial" panose="020B0604020202020204" pitchFamily="34" charset="-122"/>
                <a:cs typeface="Arial" panose="020B0604020202020204" pitchFamily="34" charset="-120"/>
              </a:rPr>
              <a:t>VERILOG DESIGN</a:t>
            </a:r>
            <a:endParaRPr lang="en-US" sz="1200" dirty="0"/>
          </a:p>
        </p:txBody>
      </p:sp>
      <p:sp>
        <p:nvSpPr>
          <p:cNvPr id="3" name="Text 1"/>
          <p:cNvSpPr/>
          <p:nvPr>
            <p:ph type="title"/>
          </p:nvPr>
        </p:nvSpPr>
        <p:spPr>
          <a:xfrm>
            <a:off x="812800" y="1102361"/>
            <a:ext cx="10883392" cy="492760"/>
          </a:xfrm>
          <a:prstGeom prst="rect">
            <a:avLst/>
          </a:prstGeom>
          <a:noFill/>
        </p:spPr>
        <p:txBody>
          <a:bodyPr wrap="square" lIns="0" tIns="0" rIns="0" bIns="0" rtlCol="0" anchor="t">
            <a:normAutofit/>
          </a:bodyPr>
          <a:lstStyle/>
          <a:p>
            <a:pPr marL="0" indent="0" algn="l">
              <a:lnSpc>
                <a:spcPts val="3680"/>
              </a:lnSpc>
              <a:buNone/>
            </a:pPr>
            <a:r>
              <a:rPr lang="en-US" sz="3200" b="1" i="0" dirty="0">
                <a:solidFill>
                  <a:srgbClr val="13213A"/>
                </a:solidFill>
                <a:latin typeface="Arial" panose="020B0604020202020204" pitchFamily="34" charset="0"/>
                <a:ea typeface="Arial" panose="020B0604020202020204" pitchFamily="34" charset="-122"/>
                <a:cs typeface="Arial" panose="020B0604020202020204" pitchFamily="34" charset="-120"/>
              </a:rPr>
              <a:t>Seven modules, one top level</a:t>
            </a:r>
            <a:endParaRPr lang="en-US" sz="3200" dirty="0"/>
          </a:p>
        </p:txBody>
      </p:sp>
      <p:sp>
        <p:nvSpPr>
          <p:cNvPr id="4" name="Shape 2"/>
          <p:cNvSpPr/>
          <p:nvPr/>
        </p:nvSpPr>
        <p:spPr>
          <a:xfrm>
            <a:off x="812800" y="1823721"/>
            <a:ext cx="10566400" cy="3078480"/>
          </a:xfrm>
          <a:prstGeom prst="rect">
            <a:avLst/>
          </a:prstGeom>
          <a:solidFill>
            <a:srgbClr val="FFFFFF"/>
          </a:solidFill>
        </p:spPr>
      </p:sp>
      <p:graphicFrame>
        <p:nvGraphicFramePr>
          <p:cNvPr id="5" name="Table 0"/>
          <p:cNvGraphicFramePr>
            <a:graphicFrameLocks noGrp="1"/>
          </p:cNvGraphicFramePr>
          <p:nvPr/>
        </p:nvGraphicFramePr>
        <p:xfrm>
          <a:off x="822960" y="1833881"/>
          <a:ext cx="10556240" cy="3068320"/>
        </p:xfrm>
        <a:graphic>
          <a:graphicData uri="http://schemas.openxmlformats.org/drawingml/2006/table">
            <a:tbl>
              <a:tblPr/>
              <a:tblGrid>
                <a:gridCol w="3166872"/>
                <a:gridCol w="1372311"/>
                <a:gridCol w="6017057"/>
              </a:tblGrid>
              <a:tr h="383540">
                <a:tc>
                  <a:txBody>
                    <a:bodyPr/>
                    <a:lstStyle/>
                    <a:p>
                      <a:pPr marL="0" indent="0">
                        <a:lnSpc>
                          <a:spcPts val="1960"/>
                        </a:lnSpc>
                        <a:buNone/>
                      </a:pPr>
                      <a:r>
                        <a:rPr lang="en-US" sz="1400" b="1" dirty="0">
                          <a:solidFill>
                            <a:srgbClr val="1B2638"/>
                          </a:solidFill>
                          <a:latin typeface="Arial" panose="020B0604020202020204" pitchFamily="34" charset="0"/>
                          <a:ea typeface="Arial" panose="020B0604020202020204" pitchFamily="34" charset="-122"/>
                          <a:cs typeface="Arial" panose="020B0604020202020204" pitchFamily="34" charset="-120"/>
                        </a:rPr>
                        <a:t>File</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960"/>
                        </a:lnSpc>
                        <a:buNone/>
                      </a:pPr>
                      <a:r>
                        <a:rPr lang="en-US" sz="1400" b="1" dirty="0">
                          <a:solidFill>
                            <a:srgbClr val="1B2638"/>
                          </a:solidFill>
                          <a:latin typeface="Arial" panose="020B0604020202020204" pitchFamily="34" charset="0"/>
                          <a:ea typeface="Arial" panose="020B0604020202020204" pitchFamily="34" charset="-122"/>
                          <a:cs typeface="Arial" panose="020B0604020202020204" pitchFamily="34" charset="-120"/>
                        </a:rPr>
                        <a:t>Stage</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960"/>
                        </a:lnSpc>
                        <a:buNone/>
                      </a:pPr>
                      <a:r>
                        <a:rPr lang="en-US" sz="1400" b="1" dirty="0">
                          <a:solidFill>
                            <a:srgbClr val="1B2638"/>
                          </a:solidFill>
                          <a:latin typeface="Arial" panose="020B0604020202020204" pitchFamily="34" charset="0"/>
                          <a:ea typeface="Arial" panose="020B0604020202020204" pitchFamily="34" charset="-122"/>
                          <a:cs typeface="Arial" panose="020B0604020202020204" pitchFamily="34" charset="-120"/>
                        </a:rPr>
                        <a:t>Role</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83540">
                <a:tc>
                  <a:txBody>
                    <a:bodyPr/>
                    <a:lstStyle/>
                    <a:p>
                      <a:pPr marL="0" indent="0">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imem.v</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IF</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256 × 16 instruction ROM holding the test program</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540">
                <a:tc>
                  <a:txBody>
                    <a:bodyPr/>
                    <a:lstStyle/>
                    <a:p>
                      <a:pPr marL="0" indent="0">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control_unit.v</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ID</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Decodes the opcode into 14 control signals</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540">
                <a:tc>
                  <a:txBody>
                    <a:bodyPr/>
                    <a:lstStyle/>
                    <a:p>
                      <a:pPr marL="0" indent="0">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regfile.v</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ID / WB</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8 × 8-bit registers, 2 read ports, write-through bypass</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540">
                <a:tc>
                  <a:txBody>
                    <a:bodyPr/>
                    <a:lstStyle/>
                    <a:p>
                      <a:pPr marL="0" indent="0">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alu.v</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EX</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ADD, SUB, AND, OR, XOR, SHL, SHR, PASS; Z and C flags</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540">
                <a:tc>
                  <a:txBody>
                    <a:bodyPr/>
                    <a:lstStyle/>
                    <a:p>
                      <a:pPr marL="0" indent="0">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dmem.v</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MEM</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256 × 8 data RAM (LUT-RAM)</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540">
                <a:tc>
                  <a:txBody>
                    <a:bodyPr/>
                    <a:lstStyle/>
                    <a:p>
                      <a:pPr marL="0" indent="0">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hazard_unit.v</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ID / EX</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Forwarding select and load-use stall detection</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540">
                <a:tc>
                  <a:txBody>
                    <a:bodyPr/>
                    <a:lstStyle/>
                    <a:p>
                      <a:pPr marL="0" indent="0">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risc8_5stage_core.v</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9BCAD"/>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CAD"/>
                      </a:solidFill>
                      <a:prstDash val="solid"/>
                      <a:round/>
                      <a:headEnd type="none" w="med" len="med"/>
                      <a:tailEnd type="none" w="med" len="med"/>
                    </a:lnB>
                    <a:solidFill>
                      <a:srgbClr val="FCEBD9"/>
                    </a:solidFill>
                  </a:tcPr>
                </a:tc>
                <a:tc>
                  <a:txBody>
                    <a:bodyPr/>
                    <a:lstStyle/>
                    <a:p>
                      <a:pPr marL="0" indent="0">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Top</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9BCAD"/>
                      </a:solidFill>
                      <a:prstDash val="solid"/>
                      <a:round/>
                      <a:headEnd type="none" w="med" len="med"/>
                      <a:tailEnd type="none" w="med" len="med"/>
                    </a:lnL>
                    <a:lnR w="12700" cap="flat" cmpd="sng" algn="ctr">
                      <a:solidFill>
                        <a:srgbClr val="C9BCAD"/>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CAD"/>
                      </a:solidFill>
                      <a:prstDash val="solid"/>
                      <a:round/>
                      <a:headEnd type="none" w="med" len="med"/>
                      <a:tailEnd type="none" w="med" len="med"/>
                    </a:lnB>
                    <a:solidFill>
                      <a:srgbClr val="FCEBD9"/>
                    </a:solidFill>
                  </a:tcPr>
                </a:tc>
                <a:tc>
                  <a:txBody>
                    <a:bodyPr/>
                    <a:lstStyle/>
                    <a:p>
                      <a:pPr marL="0" indent="0">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PC, pipeline registers, flags, branch, flush and halt logic</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9BCAD"/>
                      </a:solidFill>
                      <a:prstDash val="solid"/>
                      <a:round/>
                      <a:headEnd type="none" w="med" len="med"/>
                      <a:tailEnd type="none" w="med" len="med"/>
                    </a:lnL>
                    <a:lnR w="12700" cap="flat" cmpd="sng" algn="ctr">
                      <a:solidFill>
                        <a:srgbClr val="C9BCAD"/>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CAD"/>
                      </a:solidFill>
                      <a:prstDash val="solid"/>
                      <a:round/>
                      <a:headEnd type="none" w="med" len="med"/>
                      <a:tailEnd type="none" w="med" len="med"/>
                    </a:lnB>
                    <a:solidFill>
                      <a:srgbClr val="FCEBD9"/>
                    </a:solidFill>
                  </a:tcPr>
                </a:tc>
              </a:tr>
            </a:tbl>
          </a:graphicData>
        </a:graphic>
      </p:graphicFrame>
      <p:sp>
        <p:nvSpPr>
          <p:cNvPr id="6" name="Text 3"/>
          <p:cNvSpPr/>
          <p:nvPr/>
        </p:nvSpPr>
        <p:spPr>
          <a:xfrm>
            <a:off x="812800" y="6238239"/>
            <a:ext cx="588645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8-bit 5-Stage Pipelined RISC Processor</a:t>
            </a:r>
            <a:endParaRPr lang="en-US" sz="1200" dirty="0"/>
          </a:p>
        </p:txBody>
      </p:sp>
      <p:sp>
        <p:nvSpPr>
          <p:cNvPr id="7" name="Text 4"/>
          <p:cNvSpPr/>
          <p:nvPr/>
        </p:nvSpPr>
        <p:spPr>
          <a:xfrm>
            <a:off x="7454900" y="6238239"/>
            <a:ext cx="39243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Lê Kỳ Dũng · SE190745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A9520B"/>
                </a:solidFill>
                <a:latin typeface="Arial" panose="020B0604020202020204" pitchFamily="34" charset="0"/>
                <a:ea typeface="Arial" panose="020B0604020202020204" pitchFamily="34" charset="-122"/>
                <a:cs typeface="Arial" panose="020B0604020202020204" pitchFamily="34" charset="-120"/>
              </a:rPr>
              <a:t>HAZARD 1 OF 3 · DATA HAZARD</a:t>
            </a:r>
            <a:endParaRPr lang="en-US" sz="1200" dirty="0"/>
          </a:p>
        </p:txBody>
      </p:sp>
      <p:sp>
        <p:nvSpPr>
          <p:cNvPr id="3" name="Text 1"/>
          <p:cNvSpPr/>
          <p:nvPr>
            <p:ph type="title"/>
          </p:nvPr>
        </p:nvSpPr>
        <p:spPr>
          <a:xfrm>
            <a:off x="812800" y="1102361"/>
            <a:ext cx="10883392" cy="492760"/>
          </a:xfrm>
          <a:prstGeom prst="rect">
            <a:avLst/>
          </a:prstGeom>
          <a:noFill/>
        </p:spPr>
        <p:txBody>
          <a:bodyPr wrap="square" lIns="0" tIns="0" rIns="0" bIns="0" rtlCol="0" anchor="t">
            <a:normAutofit/>
          </a:bodyPr>
          <a:lstStyle/>
          <a:p>
            <a:pPr marL="0" indent="0" algn="l">
              <a:lnSpc>
                <a:spcPts val="3680"/>
              </a:lnSpc>
              <a:buNone/>
            </a:pPr>
            <a:r>
              <a:rPr lang="en-US" sz="3200" b="1" i="0" dirty="0">
                <a:solidFill>
                  <a:srgbClr val="13213A"/>
                </a:solidFill>
                <a:latin typeface="Arial" panose="020B0604020202020204" pitchFamily="34" charset="0"/>
                <a:ea typeface="Arial" panose="020B0604020202020204" pitchFamily="34" charset="-122"/>
                <a:cs typeface="Arial" panose="020B0604020202020204" pitchFamily="34" charset="-120"/>
              </a:rPr>
              <a:t>Forwarding: pass the result straight back</a:t>
            </a:r>
            <a:endParaRPr lang="en-US" sz="3200" dirty="0"/>
          </a:p>
        </p:txBody>
      </p:sp>
      <p:sp>
        <p:nvSpPr>
          <p:cNvPr id="4" name="Shape 2"/>
          <p:cNvSpPr/>
          <p:nvPr/>
        </p:nvSpPr>
        <p:spPr>
          <a:xfrm>
            <a:off x="812800" y="1798321"/>
            <a:ext cx="4826000" cy="1427480"/>
          </a:xfrm>
          <a:prstGeom prst="roundRect">
            <a:avLst>
              <a:gd name="adj" fmla="val 5338"/>
            </a:avLst>
          </a:prstGeom>
          <a:solidFill>
            <a:srgbClr val="13213A"/>
          </a:solidFill>
        </p:spPr>
      </p:sp>
      <p:sp>
        <p:nvSpPr>
          <p:cNvPr id="5" name="Text 3"/>
          <p:cNvSpPr/>
          <p:nvPr/>
        </p:nvSpPr>
        <p:spPr>
          <a:xfrm>
            <a:off x="1016000" y="2001521"/>
            <a:ext cx="4552188" cy="25654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D6DEE9"/>
                </a:solidFill>
                <a:latin typeface="Courier New" panose="02070309020205020404" pitchFamily="49" charset="0"/>
                <a:ea typeface="Courier New" panose="02070309020205020404" pitchFamily="49" charset="-122"/>
                <a:cs typeface="Courier New" panose="02070309020205020404" pitchFamily="49" charset="-120"/>
              </a:rPr>
              <a:t>LDI R1, 0x3C</a:t>
            </a:r>
            <a:endParaRPr lang="en-US" sz="1300" dirty="0"/>
          </a:p>
        </p:txBody>
      </p:sp>
      <p:sp>
        <p:nvSpPr>
          <p:cNvPr id="6" name="Text 4"/>
          <p:cNvSpPr/>
          <p:nvPr/>
        </p:nvSpPr>
        <p:spPr>
          <a:xfrm>
            <a:off x="1016000" y="2270761"/>
            <a:ext cx="4552188" cy="25654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D6DEE9"/>
                </a:solidFill>
                <a:latin typeface="Courier New" panose="02070309020205020404" pitchFamily="49" charset="0"/>
                <a:ea typeface="Courier New" panose="02070309020205020404" pitchFamily="49" charset="-122"/>
                <a:cs typeface="Courier New" panose="02070309020205020404" pitchFamily="49" charset="-120"/>
              </a:rPr>
              <a:t>LDI R2, 0x0F</a:t>
            </a:r>
            <a:endParaRPr lang="en-US" sz="1300" dirty="0"/>
          </a:p>
        </p:txBody>
      </p:sp>
      <p:sp>
        <p:nvSpPr>
          <p:cNvPr id="7" name="Text 5"/>
          <p:cNvSpPr/>
          <p:nvPr/>
        </p:nvSpPr>
        <p:spPr>
          <a:xfrm>
            <a:off x="1016000" y="2540000"/>
            <a:ext cx="4552188" cy="25654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F2A65A"/>
                </a:solidFill>
                <a:latin typeface="Courier New" panose="02070309020205020404" pitchFamily="49" charset="0"/>
                <a:ea typeface="Courier New" panose="02070309020205020404" pitchFamily="49" charset="-122"/>
                <a:cs typeface="Courier New" panose="02070309020205020404" pitchFamily="49" charset="-120"/>
              </a:rPr>
              <a:t>AND R3, R1, R2</a:t>
            </a:r>
            <a:endParaRPr lang="en-US" sz="1300" dirty="0"/>
          </a:p>
        </p:txBody>
      </p:sp>
      <p:sp>
        <p:nvSpPr>
          <p:cNvPr id="8" name="Text 6"/>
          <p:cNvSpPr/>
          <p:nvPr/>
        </p:nvSpPr>
        <p:spPr>
          <a:xfrm>
            <a:off x="1016000" y="2809239"/>
            <a:ext cx="4552188"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8FA1B8"/>
                </a:solidFill>
                <a:latin typeface="Arial" panose="020B0604020202020204" pitchFamily="34" charset="0"/>
                <a:ea typeface="Arial" panose="020B0604020202020204" pitchFamily="34" charset="-122"/>
                <a:cs typeface="Arial" panose="020B0604020202020204" pitchFamily="34" charset="-120"/>
              </a:rPr>
              <a:t>needs R2 (1 back) and R1 (2 back)</a:t>
            </a:r>
            <a:endParaRPr lang="en-US" sz="1200" dirty="0"/>
          </a:p>
        </p:txBody>
      </p:sp>
      <p:sp>
        <p:nvSpPr>
          <p:cNvPr id="9" name="Text 7"/>
          <p:cNvSpPr/>
          <p:nvPr/>
        </p:nvSpPr>
        <p:spPr>
          <a:xfrm>
            <a:off x="5892800" y="1798321"/>
            <a:ext cx="6299200" cy="274320"/>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3E4A5C"/>
                </a:solidFill>
                <a:latin typeface="Arial" panose="020B0604020202020204" pitchFamily="34" charset="0"/>
                <a:ea typeface="Arial" panose="020B0604020202020204" pitchFamily="34" charset="-122"/>
                <a:cs typeface="Arial" panose="020B0604020202020204" pitchFamily="34" charset="-120"/>
              </a:rPr>
              <a:t>Problem:</a:t>
            </a:r>
            <a:r>
              <a:rPr lang="en-US" sz="1400" dirty="0">
                <a:solidFill>
                  <a:srgbClr val="3E4A5C"/>
                </a:solidFill>
                <a:latin typeface="Arial" panose="020B0604020202020204" pitchFamily="34" charset="0"/>
                <a:ea typeface="Arial" panose="020B0604020202020204" pitchFamily="34" charset="-122"/>
                <a:cs typeface="Arial" panose="020B0604020202020204" pitchFamily="34" charset="-120"/>
              </a:rPr>
              <a:t> AND needs R1, R2 in EX, but they are written only in WB.</a:t>
            </a:r>
            <a:endParaRPr lang="en-US" sz="1400" dirty="0"/>
          </a:p>
        </p:txBody>
      </p:sp>
      <p:sp>
        <p:nvSpPr>
          <p:cNvPr id="10" name="Text 8"/>
          <p:cNvSpPr/>
          <p:nvPr/>
        </p:nvSpPr>
        <p:spPr>
          <a:xfrm>
            <a:off x="5892800" y="2136139"/>
            <a:ext cx="5650992" cy="523240"/>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3E4A5C"/>
                </a:solidFill>
                <a:latin typeface="Arial" panose="020B0604020202020204" pitchFamily="34" charset="0"/>
                <a:ea typeface="Arial" panose="020B0604020202020204" pitchFamily="34" charset="-122"/>
                <a:cs typeface="Arial" panose="020B0604020202020204" pitchFamily="34" charset="-120"/>
              </a:rPr>
              <a:t>Fix:</a:t>
            </a:r>
            <a:r>
              <a:rPr lang="en-US" sz="1400" dirty="0">
                <a:solidFill>
                  <a:srgbClr val="3E4A5C"/>
                </a:solidFill>
                <a:latin typeface="Arial" panose="020B0604020202020204" pitchFamily="34" charset="0"/>
                <a:ea typeface="Arial" panose="020B0604020202020204" pitchFamily="34" charset="-122"/>
                <a:cs typeface="Arial" panose="020B0604020202020204" pitchFamily="34" charset="-120"/>
              </a:rPr>
              <a:t> take the value from EX/MEM (sel = 1) or MEM/WB (sel = 2). Distance 3 uses the register-file bypass.</a:t>
            </a:r>
            <a:endParaRPr lang="en-US" sz="1400" dirty="0"/>
          </a:p>
        </p:txBody>
      </p:sp>
      <p:sp>
        <p:nvSpPr>
          <p:cNvPr id="11" name="Shape 9"/>
          <p:cNvSpPr/>
          <p:nvPr/>
        </p:nvSpPr>
        <p:spPr>
          <a:xfrm>
            <a:off x="812800" y="3454400"/>
            <a:ext cx="10566400" cy="1943100"/>
          </a:xfrm>
          <a:prstGeom prst="roundRect">
            <a:avLst>
              <a:gd name="adj" fmla="val 3922"/>
            </a:avLst>
          </a:prstGeom>
          <a:solidFill>
            <a:srgbClr val="FFFFFF"/>
          </a:solidFill>
        </p:spPr>
      </p:sp>
      <p:pic>
        <p:nvPicPr>
          <p:cNvPr id="12" name="Image 0" descr="Vivado Tcl console trace, cycles 4 to 11, showing fwdA=2 fwdB=1 in cycle 5 and flush=1 in cycle 10"/>
          <p:cNvPicPr>
            <a:picLocks noChangeAspect="1"/>
          </p:cNvPicPr>
          <p:nvPr/>
        </p:nvPicPr>
        <p:blipFill>
          <a:blip r:embed="rId1"/>
          <a:srcRect l="-214" r="-214"/>
          <a:stretch>
            <a:fillRect/>
          </a:stretch>
        </p:blipFill>
        <p:spPr>
          <a:xfrm>
            <a:off x="819150" y="3460750"/>
            <a:ext cx="10553700" cy="1930400"/>
          </a:xfrm>
          <a:prstGeom prst="roundRect">
            <a:avLst>
              <a:gd name="adj" fmla="val 3618"/>
            </a:avLst>
          </a:prstGeom>
        </p:spPr>
      </p:pic>
      <p:sp>
        <p:nvSpPr>
          <p:cNvPr id="13" name="Shape 10"/>
          <p:cNvSpPr/>
          <p:nvPr/>
        </p:nvSpPr>
        <p:spPr>
          <a:xfrm>
            <a:off x="815975" y="3457575"/>
            <a:ext cx="10560050" cy="1936750"/>
          </a:xfrm>
          <a:prstGeom prst="roundRect">
            <a:avLst>
              <a:gd name="adj" fmla="val 3770"/>
            </a:avLst>
          </a:prstGeom>
          <a:noFill/>
          <a:ln w="6350">
            <a:solidFill>
              <a:srgbClr val="DCE1E8"/>
            </a:solidFill>
            <a:prstDash val="solid"/>
          </a:ln>
        </p:spPr>
      </p:sp>
      <p:sp>
        <p:nvSpPr>
          <p:cNvPr id="14" name="Text 11"/>
          <p:cNvSpPr/>
          <p:nvPr/>
        </p:nvSpPr>
        <p:spPr>
          <a:xfrm>
            <a:off x="812800" y="5461000"/>
            <a:ext cx="10883392"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Simulation trace: cycle 5 shows </a:t>
            </a:r>
            <a:r>
              <a:rPr lang="en-US" sz="1200" b="1" dirty="0">
                <a:solidFill>
                  <a:srgbClr val="6B7686"/>
                </a:solidFill>
                <a:latin typeface="Arial" panose="020B0604020202020204" pitchFamily="34" charset="0"/>
                <a:ea typeface="Arial" panose="020B0604020202020204" pitchFamily="34" charset="-122"/>
                <a:cs typeface="Arial" panose="020B0604020202020204" pitchFamily="34" charset="-120"/>
              </a:rPr>
              <a:t>fwdA=2 fwdB=1</a:t>
            </a: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 for the AND instruction, so no stall is needed.</a:t>
            </a:r>
            <a:endParaRPr lang="en-US" sz="1200" dirty="0"/>
          </a:p>
        </p:txBody>
      </p:sp>
      <p:sp>
        <p:nvSpPr>
          <p:cNvPr id="15" name="Text 12"/>
          <p:cNvSpPr/>
          <p:nvPr/>
        </p:nvSpPr>
        <p:spPr>
          <a:xfrm>
            <a:off x="812800" y="6238239"/>
            <a:ext cx="588645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8-bit 5-Stage Pipelined RISC Processor</a:t>
            </a:r>
            <a:endParaRPr lang="en-US" sz="1200" dirty="0"/>
          </a:p>
        </p:txBody>
      </p:sp>
      <p:sp>
        <p:nvSpPr>
          <p:cNvPr id="16" name="Text 13"/>
          <p:cNvSpPr/>
          <p:nvPr/>
        </p:nvSpPr>
        <p:spPr>
          <a:xfrm>
            <a:off x="7454900" y="6238239"/>
            <a:ext cx="39243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Lê Kỳ Dũng · SE190745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28917"/>
          </a:xfrm>
          <a:prstGeom prst="rect">
            <a:avLst/>
          </a:prstGeom>
          <a:noFill/>
        </p:spPr>
        <p:txBody>
          <a:bodyPr wrap="square" lIns="0" tIns="0" rIns="0" bIns="0" rtlCol="0" anchor="t">
            <a:normAutofit/>
          </a:bodyPr>
          <a:lstStyle/>
          <a:p>
            <a:pPr marL="0" indent="0" algn="l">
              <a:lnSpc>
                <a:spcPts val="1620"/>
              </a:lnSpc>
              <a:buNone/>
            </a:pPr>
            <a:r>
              <a:rPr lang="en-US" sz="1160" b="1" kern="0" spc="150" dirty="0">
                <a:solidFill>
                  <a:srgbClr val="A9520B"/>
                </a:solidFill>
                <a:latin typeface="Arial" panose="020B0604020202020204" pitchFamily="34" charset="0"/>
                <a:ea typeface="Arial" panose="020B0604020202020204" pitchFamily="34" charset="-122"/>
                <a:cs typeface="Arial" panose="020B0604020202020204" pitchFamily="34" charset="-120"/>
              </a:rPr>
              <a:t>HAZARD 2 OF 3 · LOAD-USE</a:t>
            </a:r>
            <a:endParaRPr lang="en-US" sz="1160" dirty="0"/>
          </a:p>
        </p:txBody>
      </p:sp>
      <p:sp>
        <p:nvSpPr>
          <p:cNvPr id="3" name="Text 1"/>
          <p:cNvSpPr/>
          <p:nvPr>
            <p:ph type="title"/>
          </p:nvPr>
        </p:nvSpPr>
        <p:spPr>
          <a:xfrm>
            <a:off x="812800" y="1092519"/>
            <a:ext cx="10883392" cy="471249"/>
          </a:xfrm>
          <a:prstGeom prst="rect">
            <a:avLst/>
          </a:prstGeom>
          <a:noFill/>
        </p:spPr>
        <p:txBody>
          <a:bodyPr wrap="square" lIns="0" tIns="0" rIns="0" bIns="0" rtlCol="0" anchor="t">
            <a:normAutofit/>
          </a:bodyPr>
          <a:lstStyle/>
          <a:p>
            <a:pPr marL="0" indent="0" algn="l">
              <a:lnSpc>
                <a:spcPts val="3520"/>
              </a:lnSpc>
              <a:buNone/>
            </a:pPr>
            <a:r>
              <a:rPr lang="en-US" sz="3060" b="1" i="0" dirty="0">
                <a:solidFill>
                  <a:srgbClr val="13213A"/>
                </a:solidFill>
                <a:latin typeface="Arial" panose="020B0604020202020204" pitchFamily="34" charset="0"/>
                <a:ea typeface="Arial" panose="020B0604020202020204" pitchFamily="34" charset="-122"/>
                <a:cs typeface="Arial" panose="020B0604020202020204" pitchFamily="34" charset="-120"/>
              </a:rPr>
              <a:t>Load-use: wait exactly one cycle</a:t>
            </a:r>
            <a:endParaRPr lang="en-US" sz="3060" dirty="0"/>
          </a:p>
        </p:txBody>
      </p:sp>
      <p:sp>
        <p:nvSpPr>
          <p:cNvPr id="4" name="Text 2"/>
          <p:cNvSpPr/>
          <p:nvPr/>
        </p:nvSpPr>
        <p:spPr>
          <a:xfrm>
            <a:off x="812800" y="1766968"/>
            <a:ext cx="10883392" cy="536654"/>
          </a:xfrm>
          <a:prstGeom prst="rect">
            <a:avLst/>
          </a:prstGeom>
          <a:noFill/>
        </p:spPr>
        <p:txBody>
          <a:bodyPr wrap="square" lIns="0" tIns="0" rIns="0" bIns="0" rtlCol="0" anchor="t">
            <a:normAutofit/>
          </a:bodyPr>
          <a:lstStyle/>
          <a:p>
            <a:pPr marL="0" indent="0" algn="l">
              <a:lnSpc>
                <a:spcPts val="2035"/>
              </a:lnSpc>
              <a:buNone/>
            </a:pPr>
            <a:r>
              <a:rPr lang="en-US" sz="1455" dirty="0">
                <a:solidFill>
                  <a:srgbClr val="3E4A5C"/>
                </a:solidFill>
                <a:latin typeface="Arial" panose="020B0604020202020204" pitchFamily="34" charset="0"/>
                <a:ea typeface="Arial" panose="020B0604020202020204" pitchFamily="34" charset="-122"/>
                <a:cs typeface="Arial" panose="020B0604020202020204" pitchFamily="34" charset="-120"/>
              </a:rPr>
              <a:t>A load has its data only after MEM, too late for the next instruction’s EX. The hazard unit holds PC and IF/ID for one cycle and inserts a bubble.</a:t>
            </a:r>
            <a:endParaRPr lang="en-US" sz="1455" dirty="0"/>
          </a:p>
        </p:txBody>
      </p:sp>
      <p:sp>
        <p:nvSpPr>
          <p:cNvPr id="5" name="Text 3"/>
          <p:cNvSpPr/>
          <p:nvPr/>
        </p:nvSpPr>
        <p:spPr>
          <a:xfrm>
            <a:off x="812800" y="2506821"/>
            <a:ext cx="2354580" cy="23749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Cycle</a:t>
            </a:r>
            <a:endParaRPr lang="en-US" sz="1200" dirty="0"/>
          </a:p>
        </p:txBody>
      </p:sp>
      <p:sp>
        <p:nvSpPr>
          <p:cNvPr id="6" name="Text 4"/>
          <p:cNvSpPr/>
          <p:nvPr/>
        </p:nvSpPr>
        <p:spPr>
          <a:xfrm>
            <a:off x="3111500" y="2506821"/>
            <a:ext cx="1392714" cy="237490"/>
          </a:xfrm>
          <a:prstGeom prst="rect">
            <a:avLst/>
          </a:prstGeom>
          <a:noFill/>
        </p:spPr>
        <p:txBody>
          <a:bodyPr wrap="square" lIns="0" tIns="0" rIns="0" bIns="0" rtlCol="0" anchor="t">
            <a:normAutofit/>
          </a:bodyPr>
          <a:lstStyle/>
          <a:p>
            <a:pPr marL="0" indent="0" algn="ctr">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44</a:t>
            </a:r>
            <a:endParaRPr lang="en-US" sz="1200" dirty="0"/>
          </a:p>
        </p:txBody>
      </p:sp>
      <p:sp>
        <p:nvSpPr>
          <p:cNvPr id="7" name="Text 5"/>
          <p:cNvSpPr/>
          <p:nvPr/>
        </p:nvSpPr>
        <p:spPr>
          <a:xfrm>
            <a:off x="4491514" y="2506821"/>
            <a:ext cx="1392793" cy="237490"/>
          </a:xfrm>
          <a:prstGeom prst="rect">
            <a:avLst/>
          </a:prstGeom>
          <a:noFill/>
        </p:spPr>
        <p:txBody>
          <a:bodyPr wrap="square" lIns="0" tIns="0" rIns="0" bIns="0" rtlCol="0" anchor="t">
            <a:normAutofit/>
          </a:bodyPr>
          <a:lstStyle/>
          <a:p>
            <a:pPr marL="0" indent="0" algn="ctr">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45</a:t>
            </a:r>
            <a:endParaRPr lang="en-US" sz="1200" dirty="0"/>
          </a:p>
        </p:txBody>
      </p:sp>
      <p:sp>
        <p:nvSpPr>
          <p:cNvPr id="8" name="Text 6"/>
          <p:cNvSpPr/>
          <p:nvPr/>
        </p:nvSpPr>
        <p:spPr>
          <a:xfrm>
            <a:off x="5871607" y="2506821"/>
            <a:ext cx="1392714" cy="237490"/>
          </a:xfrm>
          <a:prstGeom prst="rect">
            <a:avLst/>
          </a:prstGeom>
          <a:noFill/>
        </p:spPr>
        <p:txBody>
          <a:bodyPr wrap="square" lIns="0" tIns="0" rIns="0" bIns="0" rtlCol="0" anchor="t">
            <a:normAutofit/>
          </a:bodyPr>
          <a:lstStyle/>
          <a:p>
            <a:pPr marL="0" indent="0" algn="ctr">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46</a:t>
            </a:r>
            <a:endParaRPr lang="en-US" sz="1200" dirty="0"/>
          </a:p>
        </p:txBody>
      </p:sp>
      <p:sp>
        <p:nvSpPr>
          <p:cNvPr id="9" name="Text 7"/>
          <p:cNvSpPr/>
          <p:nvPr/>
        </p:nvSpPr>
        <p:spPr>
          <a:xfrm>
            <a:off x="7251621" y="2506821"/>
            <a:ext cx="1392793" cy="237490"/>
          </a:xfrm>
          <a:prstGeom prst="rect">
            <a:avLst/>
          </a:prstGeom>
          <a:noFill/>
        </p:spPr>
        <p:txBody>
          <a:bodyPr wrap="square" lIns="0" tIns="0" rIns="0" bIns="0" rtlCol="0" anchor="t">
            <a:normAutofit/>
          </a:bodyPr>
          <a:lstStyle/>
          <a:p>
            <a:pPr marL="0" indent="0" algn="ctr">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47</a:t>
            </a:r>
            <a:endParaRPr lang="en-US" sz="1200" dirty="0"/>
          </a:p>
        </p:txBody>
      </p:sp>
      <p:sp>
        <p:nvSpPr>
          <p:cNvPr id="10" name="Text 8"/>
          <p:cNvSpPr/>
          <p:nvPr/>
        </p:nvSpPr>
        <p:spPr>
          <a:xfrm>
            <a:off x="8631714" y="2506821"/>
            <a:ext cx="1392793" cy="237490"/>
          </a:xfrm>
          <a:prstGeom prst="rect">
            <a:avLst/>
          </a:prstGeom>
          <a:noFill/>
        </p:spPr>
        <p:txBody>
          <a:bodyPr wrap="square" lIns="0" tIns="0" rIns="0" bIns="0" rtlCol="0" anchor="t">
            <a:normAutofit/>
          </a:bodyPr>
          <a:lstStyle/>
          <a:p>
            <a:pPr marL="0" indent="0" algn="ctr">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48</a:t>
            </a:r>
            <a:endParaRPr lang="en-US" sz="1200" dirty="0"/>
          </a:p>
        </p:txBody>
      </p:sp>
      <p:sp>
        <p:nvSpPr>
          <p:cNvPr id="11" name="Text 9"/>
          <p:cNvSpPr/>
          <p:nvPr/>
        </p:nvSpPr>
        <p:spPr>
          <a:xfrm>
            <a:off x="10011807" y="2506821"/>
            <a:ext cx="1392714" cy="237490"/>
          </a:xfrm>
          <a:prstGeom prst="rect">
            <a:avLst/>
          </a:prstGeom>
          <a:noFill/>
        </p:spPr>
        <p:txBody>
          <a:bodyPr wrap="square" lIns="0" tIns="0" rIns="0" bIns="0" rtlCol="0" anchor="t">
            <a:normAutofit/>
          </a:bodyPr>
          <a:lstStyle/>
          <a:p>
            <a:pPr marL="0" indent="0" algn="ctr">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49</a:t>
            </a:r>
            <a:endParaRPr lang="en-US" sz="1200" dirty="0"/>
          </a:p>
        </p:txBody>
      </p:sp>
      <p:sp>
        <p:nvSpPr>
          <p:cNvPr id="12" name="Text 10"/>
          <p:cNvSpPr/>
          <p:nvPr/>
        </p:nvSpPr>
        <p:spPr>
          <a:xfrm>
            <a:off x="812800" y="2820513"/>
            <a:ext cx="2354580" cy="237569"/>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1B2638"/>
                </a:solidFill>
                <a:latin typeface="Courier New" panose="02070309020205020404" pitchFamily="49" charset="0"/>
                <a:ea typeface="Courier New" panose="02070309020205020404" pitchFamily="49" charset="-122"/>
                <a:cs typeface="Courier New" panose="02070309020205020404" pitchFamily="49" charset="-120"/>
              </a:rPr>
              <a:t>LD R5,[R4]</a:t>
            </a:r>
            <a:endParaRPr lang="en-US" sz="1300" dirty="0"/>
          </a:p>
        </p:txBody>
      </p:sp>
      <p:sp>
        <p:nvSpPr>
          <p:cNvPr id="13" name="Shape 11"/>
          <p:cNvSpPr/>
          <p:nvPr/>
        </p:nvSpPr>
        <p:spPr>
          <a:xfrm>
            <a:off x="3136900" y="2757013"/>
            <a:ext cx="1341914" cy="339169"/>
          </a:xfrm>
          <a:prstGeom prst="roundRect">
            <a:avLst>
              <a:gd name="adj" fmla="val 11233"/>
            </a:avLst>
          </a:prstGeom>
          <a:solidFill>
            <a:srgbClr val="D5F5E3"/>
          </a:solidFill>
        </p:spPr>
      </p:sp>
      <p:sp>
        <p:nvSpPr>
          <p:cNvPr id="14" name="Text 12"/>
          <p:cNvSpPr/>
          <p:nvPr/>
        </p:nvSpPr>
        <p:spPr>
          <a:xfrm>
            <a:off x="3175000" y="2820513"/>
            <a:ext cx="1265714" cy="237569"/>
          </a:xfrm>
          <a:prstGeom prst="rect">
            <a:avLst/>
          </a:prstGeom>
          <a:noFill/>
        </p:spPr>
        <p:txBody>
          <a:bodyPr wrap="square" lIns="0" tIns="0" rIns="0" bIns="0" rtlCol="0" anchor="t">
            <a:normAutofit/>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ID</a:t>
            </a:r>
            <a:endParaRPr lang="en-US" sz="1300" dirty="0"/>
          </a:p>
        </p:txBody>
      </p:sp>
      <p:sp>
        <p:nvSpPr>
          <p:cNvPr id="15" name="Shape 13"/>
          <p:cNvSpPr/>
          <p:nvPr/>
        </p:nvSpPr>
        <p:spPr>
          <a:xfrm>
            <a:off x="4516914" y="2757013"/>
            <a:ext cx="1341993" cy="339169"/>
          </a:xfrm>
          <a:prstGeom prst="roundRect">
            <a:avLst>
              <a:gd name="adj" fmla="val 11233"/>
            </a:avLst>
          </a:prstGeom>
          <a:solidFill>
            <a:srgbClr val="FCF3CF"/>
          </a:solidFill>
        </p:spPr>
      </p:sp>
      <p:sp>
        <p:nvSpPr>
          <p:cNvPr id="16" name="Text 14"/>
          <p:cNvSpPr/>
          <p:nvPr/>
        </p:nvSpPr>
        <p:spPr>
          <a:xfrm>
            <a:off x="4555014" y="2820513"/>
            <a:ext cx="1265793" cy="237569"/>
          </a:xfrm>
          <a:prstGeom prst="rect">
            <a:avLst/>
          </a:prstGeom>
          <a:noFill/>
        </p:spPr>
        <p:txBody>
          <a:bodyPr wrap="square" lIns="0" tIns="0" rIns="0" bIns="0" rtlCol="0" anchor="t">
            <a:normAutofit/>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EX</a:t>
            </a:r>
            <a:endParaRPr lang="en-US" sz="1300" dirty="0"/>
          </a:p>
        </p:txBody>
      </p:sp>
      <p:sp>
        <p:nvSpPr>
          <p:cNvPr id="17" name="Shape 15"/>
          <p:cNvSpPr/>
          <p:nvPr/>
        </p:nvSpPr>
        <p:spPr>
          <a:xfrm>
            <a:off x="5897007" y="2757013"/>
            <a:ext cx="1341914" cy="339169"/>
          </a:xfrm>
          <a:prstGeom prst="roundRect">
            <a:avLst>
              <a:gd name="adj" fmla="val 11233"/>
            </a:avLst>
          </a:prstGeom>
          <a:solidFill>
            <a:srgbClr val="FADBD8"/>
          </a:solidFill>
        </p:spPr>
      </p:sp>
      <p:sp>
        <p:nvSpPr>
          <p:cNvPr id="18" name="Text 16"/>
          <p:cNvSpPr/>
          <p:nvPr/>
        </p:nvSpPr>
        <p:spPr>
          <a:xfrm>
            <a:off x="5935107" y="2820513"/>
            <a:ext cx="1265714" cy="237569"/>
          </a:xfrm>
          <a:prstGeom prst="rect">
            <a:avLst/>
          </a:prstGeom>
          <a:noFill/>
        </p:spPr>
        <p:txBody>
          <a:bodyPr wrap="square" lIns="0" tIns="0" rIns="0" bIns="0" rtlCol="0" anchor="t">
            <a:normAutofit/>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MEM</a:t>
            </a:r>
            <a:endParaRPr lang="en-US" sz="1300" dirty="0"/>
          </a:p>
        </p:txBody>
      </p:sp>
      <p:sp>
        <p:nvSpPr>
          <p:cNvPr id="19" name="Shape 17"/>
          <p:cNvSpPr/>
          <p:nvPr/>
        </p:nvSpPr>
        <p:spPr>
          <a:xfrm>
            <a:off x="7277021" y="2757013"/>
            <a:ext cx="1341993" cy="339169"/>
          </a:xfrm>
          <a:prstGeom prst="roundRect">
            <a:avLst>
              <a:gd name="adj" fmla="val 11233"/>
            </a:avLst>
          </a:prstGeom>
          <a:solidFill>
            <a:srgbClr val="E8DAEF"/>
          </a:solidFill>
        </p:spPr>
      </p:sp>
      <p:sp>
        <p:nvSpPr>
          <p:cNvPr id="20" name="Text 18"/>
          <p:cNvSpPr/>
          <p:nvPr/>
        </p:nvSpPr>
        <p:spPr>
          <a:xfrm>
            <a:off x="7315121" y="2820513"/>
            <a:ext cx="1265793" cy="237569"/>
          </a:xfrm>
          <a:prstGeom prst="rect">
            <a:avLst/>
          </a:prstGeom>
          <a:noFill/>
        </p:spPr>
        <p:txBody>
          <a:bodyPr wrap="square" lIns="0" tIns="0" rIns="0" bIns="0" rtlCol="0" anchor="t">
            <a:normAutofit/>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WB</a:t>
            </a:r>
            <a:endParaRPr lang="en-US" sz="1300" dirty="0"/>
          </a:p>
        </p:txBody>
      </p:sp>
      <p:sp>
        <p:nvSpPr>
          <p:cNvPr id="21" name="Text 19"/>
          <p:cNvSpPr/>
          <p:nvPr/>
        </p:nvSpPr>
        <p:spPr>
          <a:xfrm>
            <a:off x="812800" y="3197780"/>
            <a:ext cx="2354580" cy="268049"/>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1B2638"/>
                </a:solidFill>
                <a:latin typeface="Courier New" panose="02070309020205020404" pitchFamily="49" charset="0"/>
                <a:ea typeface="Courier New" panose="02070309020205020404" pitchFamily="49" charset="-122"/>
                <a:cs typeface="Courier New" panose="02070309020205020404" pitchFamily="49" charset="-120"/>
              </a:rPr>
              <a:t>ADDI R5,0xF0</a:t>
            </a:r>
            <a:endParaRPr lang="en-US" sz="1300" dirty="0"/>
          </a:p>
        </p:txBody>
      </p:sp>
      <p:sp>
        <p:nvSpPr>
          <p:cNvPr id="22" name="Text 20"/>
          <p:cNvSpPr/>
          <p:nvPr/>
        </p:nvSpPr>
        <p:spPr>
          <a:xfrm>
            <a:off x="3136900" y="3134280"/>
            <a:ext cx="1341914" cy="369649"/>
          </a:xfrm>
          <a:prstGeom prst="roundRect">
            <a:avLst>
              <a:gd name="adj" fmla="val 10307"/>
            </a:avLst>
          </a:prstGeom>
          <a:solidFill>
            <a:srgbClr val="D6EAF8"/>
          </a:solidFill>
        </p:spPr>
        <p:txBody>
          <a:bodyPr wrap="square" lIns="26941" tIns="52341" rIns="26941" bIns="26941" rtlCol="0" anchor="t">
            <a:normAutofit/>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IF</a:t>
            </a:r>
            <a:endParaRPr lang="en-US" sz="1300" dirty="0"/>
          </a:p>
        </p:txBody>
      </p:sp>
      <p:sp>
        <p:nvSpPr>
          <p:cNvPr id="23" name="Text 21"/>
          <p:cNvSpPr/>
          <p:nvPr/>
        </p:nvSpPr>
        <p:spPr>
          <a:xfrm>
            <a:off x="4516914" y="3134280"/>
            <a:ext cx="1341993" cy="369649"/>
          </a:xfrm>
          <a:prstGeom prst="roundRect">
            <a:avLst>
              <a:gd name="adj" fmla="val 10307"/>
            </a:avLst>
          </a:prstGeom>
          <a:solidFill>
            <a:srgbClr val="D5F5E3"/>
          </a:solidFill>
        </p:spPr>
        <p:txBody>
          <a:bodyPr wrap="square" lIns="26941" tIns="52341" rIns="26941" bIns="26941" rtlCol="0" anchor="t">
            <a:normAutofit/>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ID</a:t>
            </a:r>
            <a:endParaRPr lang="en-US" sz="1300" dirty="0"/>
          </a:p>
        </p:txBody>
      </p:sp>
      <p:sp>
        <p:nvSpPr>
          <p:cNvPr id="24" name="Shape 22"/>
          <p:cNvSpPr/>
          <p:nvPr/>
        </p:nvSpPr>
        <p:spPr>
          <a:xfrm>
            <a:off x="5906532" y="3143805"/>
            <a:ext cx="1322864" cy="350599"/>
          </a:xfrm>
          <a:prstGeom prst="roundRect">
            <a:avLst>
              <a:gd name="adj" fmla="val 8150"/>
            </a:avLst>
          </a:prstGeom>
          <a:solidFill>
            <a:srgbClr val="D5F5E3"/>
          </a:solidFill>
          <a:ln w="19050">
            <a:solidFill>
              <a:srgbClr val="C2600F"/>
            </a:solidFill>
            <a:prstDash val="solid"/>
          </a:ln>
        </p:spPr>
      </p:sp>
      <p:sp>
        <p:nvSpPr>
          <p:cNvPr id="25" name="Text 23"/>
          <p:cNvSpPr/>
          <p:nvPr/>
        </p:nvSpPr>
        <p:spPr>
          <a:xfrm>
            <a:off x="5950347" y="3213020"/>
            <a:ext cx="1235234" cy="237569"/>
          </a:xfrm>
          <a:prstGeom prst="rect">
            <a:avLst/>
          </a:prstGeom>
          <a:noFill/>
        </p:spPr>
        <p:txBody>
          <a:bodyPr wrap="square" lIns="0" tIns="0" rIns="0" bIns="0" rtlCol="0" anchor="t">
            <a:normAutofit/>
          </a:bodyPr>
          <a:lstStyle/>
          <a:p>
            <a:pPr marL="0" indent="0" algn="ctr">
              <a:lnSpc>
                <a:spcPts val="1820"/>
              </a:lnSpc>
              <a:buNone/>
            </a:pPr>
            <a:r>
              <a:rPr lang="en-US" sz="1300" b="1" dirty="0">
                <a:solidFill>
                  <a:srgbClr val="1B2638"/>
                </a:solidFill>
                <a:latin typeface="Arial" panose="020B0604020202020204" pitchFamily="34" charset="0"/>
                <a:ea typeface="Arial" panose="020B0604020202020204" pitchFamily="34" charset="-122"/>
                <a:cs typeface="Arial" panose="020B0604020202020204" pitchFamily="34" charset="-120"/>
              </a:rPr>
              <a:t>ID · stall</a:t>
            </a:r>
            <a:endParaRPr lang="en-US" sz="1300" dirty="0"/>
          </a:p>
        </p:txBody>
      </p:sp>
      <p:sp>
        <p:nvSpPr>
          <p:cNvPr id="26" name="Text 24"/>
          <p:cNvSpPr/>
          <p:nvPr/>
        </p:nvSpPr>
        <p:spPr>
          <a:xfrm>
            <a:off x="7277021" y="3134280"/>
            <a:ext cx="1341993" cy="369649"/>
          </a:xfrm>
          <a:prstGeom prst="roundRect">
            <a:avLst>
              <a:gd name="adj" fmla="val 10307"/>
            </a:avLst>
          </a:prstGeom>
          <a:solidFill>
            <a:srgbClr val="FCF3CF"/>
          </a:solidFill>
        </p:spPr>
        <p:txBody>
          <a:bodyPr wrap="square" lIns="26941" tIns="52341" rIns="26941" bIns="26941" rtlCol="0" anchor="t">
            <a:normAutofit/>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EX</a:t>
            </a:r>
            <a:endParaRPr lang="en-US" sz="1300" dirty="0"/>
          </a:p>
        </p:txBody>
      </p:sp>
      <p:sp>
        <p:nvSpPr>
          <p:cNvPr id="27" name="Text 25"/>
          <p:cNvSpPr/>
          <p:nvPr/>
        </p:nvSpPr>
        <p:spPr>
          <a:xfrm>
            <a:off x="8657114" y="3134280"/>
            <a:ext cx="1341993" cy="369649"/>
          </a:xfrm>
          <a:prstGeom prst="roundRect">
            <a:avLst>
              <a:gd name="adj" fmla="val 10307"/>
            </a:avLst>
          </a:prstGeom>
          <a:solidFill>
            <a:srgbClr val="FADBD8"/>
          </a:solidFill>
        </p:spPr>
        <p:txBody>
          <a:bodyPr wrap="square" lIns="26941" tIns="52341" rIns="26941" bIns="26941" rtlCol="0" anchor="t">
            <a:normAutofit/>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MEM</a:t>
            </a:r>
            <a:endParaRPr lang="en-US" sz="1300" dirty="0"/>
          </a:p>
        </p:txBody>
      </p:sp>
      <p:sp>
        <p:nvSpPr>
          <p:cNvPr id="28" name="Text 26"/>
          <p:cNvSpPr/>
          <p:nvPr/>
        </p:nvSpPr>
        <p:spPr>
          <a:xfrm>
            <a:off x="10037207" y="3134280"/>
            <a:ext cx="1341914" cy="369649"/>
          </a:xfrm>
          <a:prstGeom prst="roundRect">
            <a:avLst>
              <a:gd name="adj" fmla="val 10307"/>
            </a:avLst>
          </a:prstGeom>
          <a:solidFill>
            <a:srgbClr val="E8DAEF"/>
          </a:solidFill>
        </p:spPr>
        <p:txBody>
          <a:bodyPr wrap="square" lIns="26941" tIns="52341" rIns="26941" bIns="26941" rtlCol="0" anchor="t">
            <a:normAutofit/>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WB</a:t>
            </a:r>
            <a:endParaRPr lang="en-US" sz="1300" dirty="0"/>
          </a:p>
        </p:txBody>
      </p:sp>
      <p:sp>
        <p:nvSpPr>
          <p:cNvPr id="29" name="Text 27"/>
          <p:cNvSpPr/>
          <p:nvPr/>
        </p:nvSpPr>
        <p:spPr>
          <a:xfrm>
            <a:off x="812800" y="3605532"/>
            <a:ext cx="2354580" cy="237569"/>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6B7686"/>
                </a:solidFill>
                <a:latin typeface="Arial" panose="020B0604020202020204" pitchFamily="34" charset="0"/>
                <a:ea typeface="Arial" panose="020B0604020202020204" pitchFamily="34" charset="-122"/>
                <a:cs typeface="Arial" panose="020B0604020202020204" pitchFamily="34" charset="-120"/>
              </a:rPr>
              <a:t>bubble</a:t>
            </a:r>
            <a:endParaRPr lang="en-US" sz="1300" dirty="0"/>
          </a:p>
        </p:txBody>
      </p:sp>
      <p:sp>
        <p:nvSpPr>
          <p:cNvPr id="30" name="Shape 28"/>
          <p:cNvSpPr/>
          <p:nvPr/>
        </p:nvSpPr>
        <p:spPr>
          <a:xfrm>
            <a:off x="5897007" y="3542032"/>
            <a:ext cx="1341914" cy="339169"/>
          </a:xfrm>
          <a:prstGeom prst="roundRect">
            <a:avLst>
              <a:gd name="adj" fmla="val 11233"/>
            </a:avLst>
          </a:prstGeom>
          <a:solidFill>
            <a:srgbClr val="D3D8DF"/>
          </a:solidFill>
        </p:spPr>
      </p:sp>
      <p:sp>
        <p:nvSpPr>
          <p:cNvPr id="31" name="Text 29"/>
          <p:cNvSpPr/>
          <p:nvPr/>
        </p:nvSpPr>
        <p:spPr>
          <a:xfrm>
            <a:off x="5935107" y="3605532"/>
            <a:ext cx="1265714" cy="237569"/>
          </a:xfrm>
          <a:prstGeom prst="rect">
            <a:avLst/>
          </a:prstGeom>
          <a:noFill/>
        </p:spPr>
        <p:txBody>
          <a:bodyPr wrap="square" lIns="0" tIns="0" rIns="0" bIns="0" rtlCol="0" anchor="t">
            <a:normAutofit/>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a:t>
            </a:r>
            <a:endParaRPr lang="en-US" sz="1300" dirty="0"/>
          </a:p>
        </p:txBody>
      </p:sp>
      <p:sp>
        <p:nvSpPr>
          <p:cNvPr id="32" name="Shape 30"/>
          <p:cNvSpPr/>
          <p:nvPr/>
        </p:nvSpPr>
        <p:spPr>
          <a:xfrm>
            <a:off x="7277021" y="3542032"/>
            <a:ext cx="1341993" cy="339169"/>
          </a:xfrm>
          <a:prstGeom prst="roundRect">
            <a:avLst>
              <a:gd name="adj" fmla="val 11233"/>
            </a:avLst>
          </a:prstGeom>
          <a:solidFill>
            <a:srgbClr val="D3D8DF"/>
          </a:solidFill>
        </p:spPr>
      </p:sp>
      <p:sp>
        <p:nvSpPr>
          <p:cNvPr id="33" name="Text 31"/>
          <p:cNvSpPr/>
          <p:nvPr/>
        </p:nvSpPr>
        <p:spPr>
          <a:xfrm>
            <a:off x="7315121" y="3605532"/>
            <a:ext cx="1265793" cy="237569"/>
          </a:xfrm>
          <a:prstGeom prst="rect">
            <a:avLst/>
          </a:prstGeom>
          <a:noFill/>
        </p:spPr>
        <p:txBody>
          <a:bodyPr wrap="square" lIns="0" tIns="0" rIns="0" bIns="0" rtlCol="0" anchor="t">
            <a:normAutofit/>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a:t>
            </a:r>
            <a:endParaRPr lang="en-US" sz="1300" dirty="0"/>
          </a:p>
        </p:txBody>
      </p:sp>
      <p:sp>
        <p:nvSpPr>
          <p:cNvPr id="34" name="Shape 32"/>
          <p:cNvSpPr/>
          <p:nvPr/>
        </p:nvSpPr>
        <p:spPr>
          <a:xfrm>
            <a:off x="8657114" y="3542032"/>
            <a:ext cx="1341993" cy="339169"/>
          </a:xfrm>
          <a:prstGeom prst="roundRect">
            <a:avLst>
              <a:gd name="adj" fmla="val 11233"/>
            </a:avLst>
          </a:prstGeom>
          <a:solidFill>
            <a:srgbClr val="D3D8DF"/>
          </a:solidFill>
        </p:spPr>
      </p:sp>
      <p:sp>
        <p:nvSpPr>
          <p:cNvPr id="35" name="Text 33"/>
          <p:cNvSpPr/>
          <p:nvPr/>
        </p:nvSpPr>
        <p:spPr>
          <a:xfrm>
            <a:off x="8695214" y="3605532"/>
            <a:ext cx="1265793" cy="237569"/>
          </a:xfrm>
          <a:prstGeom prst="rect">
            <a:avLst/>
          </a:prstGeom>
          <a:noFill/>
        </p:spPr>
        <p:txBody>
          <a:bodyPr wrap="square" lIns="0" tIns="0" rIns="0" bIns="0" rtlCol="0" anchor="t">
            <a:normAutofit/>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a:t>
            </a:r>
            <a:endParaRPr lang="en-US" sz="1300" dirty="0"/>
          </a:p>
        </p:txBody>
      </p:sp>
      <p:sp>
        <p:nvSpPr>
          <p:cNvPr id="36" name="Shape 34"/>
          <p:cNvSpPr/>
          <p:nvPr/>
        </p:nvSpPr>
        <p:spPr>
          <a:xfrm>
            <a:off x="10037207" y="3542032"/>
            <a:ext cx="1341914" cy="339169"/>
          </a:xfrm>
          <a:prstGeom prst="roundRect">
            <a:avLst>
              <a:gd name="adj" fmla="val 11233"/>
            </a:avLst>
          </a:prstGeom>
          <a:solidFill>
            <a:srgbClr val="D3D8DF"/>
          </a:solidFill>
        </p:spPr>
      </p:sp>
      <p:sp>
        <p:nvSpPr>
          <p:cNvPr id="37" name="Text 35"/>
          <p:cNvSpPr/>
          <p:nvPr/>
        </p:nvSpPr>
        <p:spPr>
          <a:xfrm>
            <a:off x="10075307" y="3605532"/>
            <a:ext cx="1265714" cy="237569"/>
          </a:xfrm>
          <a:prstGeom prst="rect">
            <a:avLst/>
          </a:prstGeom>
          <a:noFill/>
        </p:spPr>
        <p:txBody>
          <a:bodyPr wrap="square" lIns="0" tIns="0" rIns="0" bIns="0" rtlCol="0" anchor="t">
            <a:normAutofit/>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a:t>
            </a:r>
            <a:endParaRPr lang="en-US" sz="1300" dirty="0"/>
          </a:p>
        </p:txBody>
      </p:sp>
      <p:sp>
        <p:nvSpPr>
          <p:cNvPr id="38" name="Text 36"/>
          <p:cNvSpPr/>
          <p:nvPr/>
        </p:nvSpPr>
        <p:spPr>
          <a:xfrm>
            <a:off x="812800" y="3982799"/>
            <a:ext cx="2354580" cy="268049"/>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1B2638"/>
                </a:solidFill>
                <a:latin typeface="Courier New" panose="02070309020205020404" pitchFamily="49" charset="0"/>
                <a:ea typeface="Courier New" panose="02070309020205020404" pitchFamily="49" charset="-122"/>
                <a:cs typeface="Courier New" panose="02070309020205020404" pitchFamily="49" charset="-120"/>
              </a:rPr>
              <a:t>ADDI R5,1</a:t>
            </a:r>
            <a:endParaRPr lang="en-US" sz="1300" dirty="0"/>
          </a:p>
        </p:txBody>
      </p:sp>
      <p:sp>
        <p:nvSpPr>
          <p:cNvPr id="39" name="Text 37"/>
          <p:cNvSpPr/>
          <p:nvPr/>
        </p:nvSpPr>
        <p:spPr>
          <a:xfrm>
            <a:off x="4516914" y="3919299"/>
            <a:ext cx="1341993" cy="369649"/>
          </a:xfrm>
          <a:prstGeom prst="roundRect">
            <a:avLst>
              <a:gd name="adj" fmla="val 10307"/>
            </a:avLst>
          </a:prstGeom>
          <a:solidFill>
            <a:srgbClr val="D6EAF8"/>
          </a:solidFill>
        </p:spPr>
        <p:txBody>
          <a:bodyPr wrap="square" lIns="26941" tIns="52341" rIns="26941" bIns="26941" rtlCol="0" anchor="t">
            <a:normAutofit/>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IF</a:t>
            </a:r>
            <a:endParaRPr lang="en-US" sz="1300" dirty="0"/>
          </a:p>
        </p:txBody>
      </p:sp>
      <p:sp>
        <p:nvSpPr>
          <p:cNvPr id="40" name="Shape 38"/>
          <p:cNvSpPr/>
          <p:nvPr/>
        </p:nvSpPr>
        <p:spPr>
          <a:xfrm>
            <a:off x="5906532" y="3928824"/>
            <a:ext cx="1322864" cy="350599"/>
          </a:xfrm>
          <a:prstGeom prst="roundRect">
            <a:avLst>
              <a:gd name="adj" fmla="val 8150"/>
            </a:avLst>
          </a:prstGeom>
          <a:solidFill>
            <a:srgbClr val="D6EAF8"/>
          </a:solidFill>
          <a:ln w="19050">
            <a:solidFill>
              <a:srgbClr val="C2600F"/>
            </a:solidFill>
            <a:prstDash val="solid"/>
          </a:ln>
        </p:spPr>
      </p:sp>
      <p:sp>
        <p:nvSpPr>
          <p:cNvPr id="41" name="Text 39"/>
          <p:cNvSpPr/>
          <p:nvPr/>
        </p:nvSpPr>
        <p:spPr>
          <a:xfrm>
            <a:off x="5950347" y="3998039"/>
            <a:ext cx="1235234" cy="237569"/>
          </a:xfrm>
          <a:prstGeom prst="rect">
            <a:avLst/>
          </a:prstGeom>
          <a:noFill/>
        </p:spPr>
        <p:txBody>
          <a:bodyPr wrap="square" lIns="0" tIns="0" rIns="0" bIns="0" rtlCol="0" anchor="t">
            <a:normAutofit/>
          </a:bodyPr>
          <a:lstStyle/>
          <a:p>
            <a:pPr marL="0" indent="0" algn="ctr">
              <a:lnSpc>
                <a:spcPts val="1820"/>
              </a:lnSpc>
              <a:buNone/>
            </a:pPr>
            <a:r>
              <a:rPr lang="en-US" sz="1300" b="1" dirty="0">
                <a:solidFill>
                  <a:srgbClr val="1B2638"/>
                </a:solidFill>
                <a:latin typeface="Arial" panose="020B0604020202020204" pitchFamily="34" charset="0"/>
                <a:ea typeface="Arial" panose="020B0604020202020204" pitchFamily="34" charset="-122"/>
                <a:cs typeface="Arial" panose="020B0604020202020204" pitchFamily="34" charset="-120"/>
              </a:rPr>
              <a:t>IF · hold</a:t>
            </a:r>
            <a:endParaRPr lang="en-US" sz="1300" dirty="0"/>
          </a:p>
        </p:txBody>
      </p:sp>
      <p:sp>
        <p:nvSpPr>
          <p:cNvPr id="42" name="Text 40"/>
          <p:cNvSpPr/>
          <p:nvPr/>
        </p:nvSpPr>
        <p:spPr>
          <a:xfrm>
            <a:off x="7277021" y="3919299"/>
            <a:ext cx="1341993" cy="369649"/>
          </a:xfrm>
          <a:prstGeom prst="roundRect">
            <a:avLst>
              <a:gd name="adj" fmla="val 10307"/>
            </a:avLst>
          </a:prstGeom>
          <a:solidFill>
            <a:srgbClr val="D5F5E3"/>
          </a:solidFill>
        </p:spPr>
        <p:txBody>
          <a:bodyPr wrap="square" lIns="26941" tIns="52341" rIns="26941" bIns="26941" rtlCol="0" anchor="t">
            <a:normAutofit/>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ID</a:t>
            </a:r>
            <a:endParaRPr lang="en-US" sz="1300" dirty="0"/>
          </a:p>
        </p:txBody>
      </p:sp>
      <p:sp>
        <p:nvSpPr>
          <p:cNvPr id="43" name="Text 41"/>
          <p:cNvSpPr/>
          <p:nvPr/>
        </p:nvSpPr>
        <p:spPr>
          <a:xfrm>
            <a:off x="8657114" y="3919299"/>
            <a:ext cx="1341993" cy="369649"/>
          </a:xfrm>
          <a:prstGeom prst="roundRect">
            <a:avLst>
              <a:gd name="adj" fmla="val 10307"/>
            </a:avLst>
          </a:prstGeom>
          <a:solidFill>
            <a:srgbClr val="FCF3CF"/>
          </a:solidFill>
        </p:spPr>
        <p:txBody>
          <a:bodyPr wrap="square" lIns="26941" tIns="52341" rIns="26941" bIns="26941" rtlCol="0" anchor="t">
            <a:normAutofit/>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EX</a:t>
            </a:r>
            <a:endParaRPr lang="en-US" sz="1300" dirty="0"/>
          </a:p>
        </p:txBody>
      </p:sp>
      <p:sp>
        <p:nvSpPr>
          <p:cNvPr id="44" name="Text 42"/>
          <p:cNvSpPr/>
          <p:nvPr/>
        </p:nvSpPr>
        <p:spPr>
          <a:xfrm>
            <a:off x="10037207" y="3919299"/>
            <a:ext cx="1341914" cy="369649"/>
          </a:xfrm>
          <a:prstGeom prst="roundRect">
            <a:avLst>
              <a:gd name="adj" fmla="val 10307"/>
            </a:avLst>
          </a:prstGeom>
          <a:solidFill>
            <a:srgbClr val="FADBD8"/>
          </a:solidFill>
        </p:spPr>
        <p:txBody>
          <a:bodyPr wrap="square" lIns="26941" tIns="52341" rIns="26941" bIns="26941" rtlCol="0" anchor="t">
            <a:normAutofit/>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MEM</a:t>
            </a:r>
            <a:endParaRPr lang="en-US" sz="1300" dirty="0"/>
          </a:p>
        </p:txBody>
      </p:sp>
      <p:sp>
        <p:nvSpPr>
          <p:cNvPr id="45" name="Shape 43"/>
          <p:cNvSpPr/>
          <p:nvPr/>
        </p:nvSpPr>
        <p:spPr>
          <a:xfrm>
            <a:off x="812800" y="4517548"/>
            <a:ext cx="9525000" cy="1056957"/>
          </a:xfrm>
          <a:prstGeom prst="roundRect">
            <a:avLst>
              <a:gd name="adj" fmla="val 7209"/>
            </a:avLst>
          </a:prstGeom>
          <a:solidFill>
            <a:srgbClr val="FFFFFF"/>
          </a:solidFill>
        </p:spPr>
      </p:sp>
      <p:pic>
        <p:nvPicPr>
          <p:cNvPr id="46" name="Image 0" descr="Vivado trace, cycles 43 to 47: stall=1 in cycle 45, PC stays at 18 in cycle 46, ID/EX is 0 (bubble)"/>
          <p:cNvPicPr>
            <a:picLocks noChangeAspect="1"/>
          </p:cNvPicPr>
          <p:nvPr/>
        </p:nvPicPr>
        <p:blipFill>
          <a:blip r:embed="rId1"/>
          <a:stretch>
            <a:fillRect/>
          </a:stretch>
        </p:blipFill>
        <p:spPr>
          <a:xfrm>
            <a:off x="1085969" y="4523898"/>
            <a:ext cx="8978662" cy="1044257"/>
          </a:xfrm>
          <a:prstGeom prst="rect">
            <a:avLst/>
          </a:prstGeom>
        </p:spPr>
      </p:pic>
      <p:sp>
        <p:nvSpPr>
          <p:cNvPr id="47" name="Shape 44"/>
          <p:cNvSpPr/>
          <p:nvPr/>
        </p:nvSpPr>
        <p:spPr>
          <a:xfrm>
            <a:off x="815975" y="4520723"/>
            <a:ext cx="9518650" cy="1050607"/>
          </a:xfrm>
          <a:prstGeom prst="roundRect">
            <a:avLst>
              <a:gd name="adj" fmla="val 6951"/>
            </a:avLst>
          </a:prstGeom>
          <a:noFill/>
          <a:ln w="6350">
            <a:solidFill>
              <a:srgbClr val="DCE1E8"/>
            </a:solidFill>
            <a:prstDash val="solid"/>
          </a:ln>
        </p:spPr>
      </p:sp>
      <p:sp>
        <p:nvSpPr>
          <p:cNvPr id="48" name="Text 45"/>
          <p:cNvSpPr/>
          <p:nvPr/>
        </p:nvSpPr>
        <p:spPr>
          <a:xfrm>
            <a:off x="812800" y="5638006"/>
            <a:ext cx="10883392" cy="229394"/>
          </a:xfrm>
          <a:prstGeom prst="rect">
            <a:avLst/>
          </a:prstGeom>
          <a:noFill/>
        </p:spPr>
        <p:txBody>
          <a:bodyPr wrap="square" lIns="0" tIns="0" rIns="0" bIns="0" rtlCol="0" anchor="t">
            <a:normAutofit/>
          </a:bodyPr>
          <a:lstStyle/>
          <a:p>
            <a:pPr marL="0" indent="0" algn="l">
              <a:lnSpc>
                <a:spcPts val="1620"/>
              </a:lnSpc>
              <a:buNone/>
            </a:pPr>
            <a:r>
              <a:rPr lang="en-US" sz="1160" dirty="0">
                <a:solidFill>
                  <a:srgbClr val="6B7686"/>
                </a:solidFill>
                <a:latin typeface="Arial" panose="020B0604020202020204" pitchFamily="34" charset="0"/>
                <a:ea typeface="Arial" panose="020B0604020202020204" pitchFamily="34" charset="-122"/>
                <a:cs typeface="Arial" panose="020B0604020202020204" pitchFamily="34" charset="-120"/>
              </a:rPr>
              <a:t>Trace: </a:t>
            </a:r>
            <a:r>
              <a:rPr lang="en-US" sz="1160" b="1" dirty="0">
                <a:solidFill>
                  <a:srgbClr val="6B7686"/>
                </a:solidFill>
                <a:latin typeface="Arial" panose="020B0604020202020204" pitchFamily="34" charset="0"/>
                <a:ea typeface="Arial" panose="020B0604020202020204" pitchFamily="34" charset="-122"/>
                <a:cs typeface="Arial" panose="020B0604020202020204" pitchFamily="34" charset="-120"/>
              </a:rPr>
              <a:t>stall=1</a:t>
            </a:r>
            <a:r>
              <a:rPr lang="en-US" sz="1160" dirty="0">
                <a:solidFill>
                  <a:srgbClr val="6B7686"/>
                </a:solidFill>
                <a:latin typeface="Arial" panose="020B0604020202020204" pitchFamily="34" charset="0"/>
                <a:ea typeface="Arial" panose="020B0604020202020204" pitchFamily="34" charset="-122"/>
                <a:cs typeface="Arial" panose="020B0604020202020204" pitchFamily="34" charset="-120"/>
              </a:rPr>
              <a:t> in cycle 45; PC stays at 18 and ID/EX is 0 (bubble) in cycle 46.</a:t>
            </a:r>
            <a:endParaRPr lang="en-US" sz="1160" dirty="0"/>
          </a:p>
        </p:txBody>
      </p:sp>
      <p:sp>
        <p:nvSpPr>
          <p:cNvPr id="49" name="Text 46"/>
          <p:cNvSpPr/>
          <p:nvPr/>
        </p:nvSpPr>
        <p:spPr>
          <a:xfrm>
            <a:off x="812800" y="6238242"/>
            <a:ext cx="588645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8-bit 5-Stage Pipelined RISC Processor</a:t>
            </a:r>
            <a:endParaRPr lang="en-US" sz="1200" dirty="0"/>
          </a:p>
        </p:txBody>
      </p:sp>
      <p:sp>
        <p:nvSpPr>
          <p:cNvPr id="50" name="Text 47"/>
          <p:cNvSpPr/>
          <p:nvPr/>
        </p:nvSpPr>
        <p:spPr>
          <a:xfrm>
            <a:off x="7454900" y="6238242"/>
            <a:ext cx="39243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Lê Kỳ Dũng · SE190745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A9520B"/>
                </a:solidFill>
                <a:latin typeface="Arial" panose="020B0604020202020204" pitchFamily="34" charset="0"/>
                <a:ea typeface="Arial" panose="020B0604020202020204" pitchFamily="34" charset="-122"/>
                <a:cs typeface="Arial" panose="020B0604020202020204" pitchFamily="34" charset="-120"/>
              </a:rPr>
              <a:t>HAZARD 3 OF 3 · CONTROL HAZARD</a:t>
            </a:r>
            <a:endParaRPr lang="en-US" sz="1200" dirty="0"/>
          </a:p>
        </p:txBody>
      </p:sp>
      <p:sp>
        <p:nvSpPr>
          <p:cNvPr id="3" name="Text 1"/>
          <p:cNvSpPr/>
          <p:nvPr>
            <p:ph type="title"/>
          </p:nvPr>
        </p:nvSpPr>
        <p:spPr>
          <a:xfrm>
            <a:off x="812800" y="1102364"/>
            <a:ext cx="10883392" cy="492760"/>
          </a:xfrm>
          <a:prstGeom prst="rect">
            <a:avLst/>
          </a:prstGeom>
          <a:noFill/>
        </p:spPr>
        <p:txBody>
          <a:bodyPr wrap="square" lIns="0" tIns="0" rIns="0" bIns="0" rtlCol="0" anchor="t">
            <a:normAutofit/>
          </a:bodyPr>
          <a:lstStyle/>
          <a:p>
            <a:pPr marL="0" indent="0" algn="l">
              <a:lnSpc>
                <a:spcPts val="3680"/>
              </a:lnSpc>
              <a:buNone/>
            </a:pPr>
            <a:r>
              <a:rPr lang="en-US" sz="3200" b="1" i="0" dirty="0">
                <a:solidFill>
                  <a:srgbClr val="13213A"/>
                </a:solidFill>
                <a:latin typeface="Arial" panose="020B0604020202020204" pitchFamily="34" charset="0"/>
                <a:ea typeface="Arial" panose="020B0604020202020204" pitchFamily="34" charset="-122"/>
                <a:cs typeface="Arial" panose="020B0604020202020204" pitchFamily="34" charset="-120"/>
              </a:rPr>
              <a:t>Taken branch: flush two wrong instructions</a:t>
            </a:r>
            <a:endParaRPr lang="en-US" sz="3200" dirty="0"/>
          </a:p>
        </p:txBody>
      </p:sp>
      <p:sp>
        <p:nvSpPr>
          <p:cNvPr id="4" name="Text 2"/>
          <p:cNvSpPr/>
          <p:nvPr/>
        </p:nvSpPr>
        <p:spPr>
          <a:xfrm>
            <a:off x="812800" y="1823721"/>
            <a:ext cx="235458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Cycle</a:t>
            </a:r>
            <a:endParaRPr lang="en-US" sz="1200" dirty="0"/>
          </a:p>
        </p:txBody>
      </p:sp>
      <p:sp>
        <p:nvSpPr>
          <p:cNvPr id="5" name="Text 3"/>
          <p:cNvSpPr/>
          <p:nvPr/>
        </p:nvSpPr>
        <p:spPr>
          <a:xfrm>
            <a:off x="3111500" y="1823721"/>
            <a:ext cx="1392714" cy="238760"/>
          </a:xfrm>
          <a:prstGeom prst="rect">
            <a:avLst/>
          </a:prstGeom>
          <a:noFill/>
        </p:spPr>
        <p:txBody>
          <a:bodyPr wrap="square" lIns="0" tIns="0" rIns="0" bIns="0" rtlCol="0" anchor="t">
            <a:normAutofit/>
          </a:bodyPr>
          <a:lstStyle/>
          <a:p>
            <a:pPr marL="0" indent="0" algn="ctr">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8</a:t>
            </a:r>
            <a:endParaRPr lang="en-US" sz="1200" dirty="0"/>
          </a:p>
        </p:txBody>
      </p:sp>
      <p:sp>
        <p:nvSpPr>
          <p:cNvPr id="6" name="Text 4"/>
          <p:cNvSpPr/>
          <p:nvPr/>
        </p:nvSpPr>
        <p:spPr>
          <a:xfrm>
            <a:off x="4491514" y="1823721"/>
            <a:ext cx="1392793" cy="238760"/>
          </a:xfrm>
          <a:prstGeom prst="rect">
            <a:avLst/>
          </a:prstGeom>
          <a:noFill/>
        </p:spPr>
        <p:txBody>
          <a:bodyPr wrap="square" lIns="0" tIns="0" rIns="0" bIns="0" rtlCol="0" anchor="t">
            <a:normAutofit/>
          </a:bodyPr>
          <a:lstStyle/>
          <a:p>
            <a:pPr marL="0" indent="0" algn="ctr">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9</a:t>
            </a:r>
            <a:endParaRPr lang="en-US" sz="1200" dirty="0"/>
          </a:p>
        </p:txBody>
      </p:sp>
      <p:sp>
        <p:nvSpPr>
          <p:cNvPr id="7" name="Text 5"/>
          <p:cNvSpPr/>
          <p:nvPr/>
        </p:nvSpPr>
        <p:spPr>
          <a:xfrm>
            <a:off x="5871607" y="1823721"/>
            <a:ext cx="1392714" cy="238760"/>
          </a:xfrm>
          <a:prstGeom prst="rect">
            <a:avLst/>
          </a:prstGeom>
          <a:noFill/>
        </p:spPr>
        <p:txBody>
          <a:bodyPr wrap="square" lIns="0" tIns="0" rIns="0" bIns="0" rtlCol="0" anchor="t">
            <a:normAutofit/>
          </a:bodyPr>
          <a:lstStyle/>
          <a:p>
            <a:pPr marL="0" indent="0" algn="ctr">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10</a:t>
            </a:r>
            <a:endParaRPr lang="en-US" sz="1200" dirty="0"/>
          </a:p>
        </p:txBody>
      </p:sp>
      <p:sp>
        <p:nvSpPr>
          <p:cNvPr id="8" name="Text 6"/>
          <p:cNvSpPr/>
          <p:nvPr/>
        </p:nvSpPr>
        <p:spPr>
          <a:xfrm>
            <a:off x="7251621" y="1823721"/>
            <a:ext cx="1392793" cy="238760"/>
          </a:xfrm>
          <a:prstGeom prst="rect">
            <a:avLst/>
          </a:prstGeom>
          <a:noFill/>
        </p:spPr>
        <p:txBody>
          <a:bodyPr wrap="square" lIns="0" tIns="0" rIns="0" bIns="0" rtlCol="0" anchor="t">
            <a:normAutofit/>
          </a:bodyPr>
          <a:lstStyle/>
          <a:p>
            <a:pPr marL="0" indent="0" algn="ctr">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11</a:t>
            </a:r>
            <a:endParaRPr lang="en-US" sz="1200" dirty="0"/>
          </a:p>
        </p:txBody>
      </p:sp>
      <p:sp>
        <p:nvSpPr>
          <p:cNvPr id="9" name="Text 7"/>
          <p:cNvSpPr/>
          <p:nvPr/>
        </p:nvSpPr>
        <p:spPr>
          <a:xfrm>
            <a:off x="8631714" y="1823721"/>
            <a:ext cx="1392793" cy="238760"/>
          </a:xfrm>
          <a:prstGeom prst="rect">
            <a:avLst/>
          </a:prstGeom>
          <a:noFill/>
        </p:spPr>
        <p:txBody>
          <a:bodyPr wrap="square" lIns="0" tIns="0" rIns="0" bIns="0" rtlCol="0" anchor="t">
            <a:normAutofit/>
          </a:bodyPr>
          <a:lstStyle/>
          <a:p>
            <a:pPr marL="0" indent="0" algn="ctr">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12</a:t>
            </a:r>
            <a:endParaRPr lang="en-US" sz="1200" dirty="0"/>
          </a:p>
        </p:txBody>
      </p:sp>
      <p:sp>
        <p:nvSpPr>
          <p:cNvPr id="10" name="Text 8"/>
          <p:cNvSpPr/>
          <p:nvPr/>
        </p:nvSpPr>
        <p:spPr>
          <a:xfrm>
            <a:off x="10011807" y="1823721"/>
            <a:ext cx="1392714" cy="238760"/>
          </a:xfrm>
          <a:prstGeom prst="rect">
            <a:avLst/>
          </a:prstGeom>
          <a:noFill/>
        </p:spPr>
        <p:txBody>
          <a:bodyPr wrap="square" lIns="0" tIns="0" rIns="0" bIns="0" rtlCol="0" anchor="t">
            <a:normAutofit/>
          </a:bodyPr>
          <a:lstStyle/>
          <a:p>
            <a:pPr marL="0" indent="0" algn="ctr">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13</a:t>
            </a:r>
            <a:endParaRPr lang="en-US" sz="1200" dirty="0"/>
          </a:p>
        </p:txBody>
      </p:sp>
      <p:sp>
        <p:nvSpPr>
          <p:cNvPr id="11" name="Text 9"/>
          <p:cNvSpPr/>
          <p:nvPr/>
        </p:nvSpPr>
        <p:spPr>
          <a:xfrm>
            <a:off x="812800" y="2138679"/>
            <a:ext cx="2354580" cy="28702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1B2638"/>
                </a:solidFill>
                <a:latin typeface="Courier New" panose="02070309020205020404" pitchFamily="49" charset="0"/>
                <a:ea typeface="Courier New" panose="02070309020205020404" pitchFamily="49" charset="-122"/>
                <a:cs typeface="Courier New" panose="02070309020205020404" pitchFamily="49" charset="-120"/>
              </a:rPr>
              <a:t>07: BZ 0x0A</a:t>
            </a:r>
            <a:endParaRPr lang="en-US" sz="1300" dirty="0"/>
          </a:p>
        </p:txBody>
      </p:sp>
      <p:sp>
        <p:nvSpPr>
          <p:cNvPr id="12" name="Text 10"/>
          <p:cNvSpPr/>
          <p:nvPr/>
        </p:nvSpPr>
        <p:spPr>
          <a:xfrm>
            <a:off x="3136900" y="2075179"/>
            <a:ext cx="1341914" cy="388620"/>
          </a:xfrm>
          <a:prstGeom prst="roundRect">
            <a:avLst>
              <a:gd name="adj" fmla="val 9804"/>
            </a:avLst>
          </a:prstGeom>
          <a:solidFill>
            <a:srgbClr val="D6EAF8"/>
          </a:solidFill>
        </p:spPr>
        <p:txBody>
          <a:bodyPr wrap="square" lIns="26941" tIns="52341" rIns="26941" bIns="26941" rtlCol="0" anchor="t">
            <a:normAutofit/>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IF</a:t>
            </a:r>
            <a:endParaRPr lang="en-US" sz="1300" dirty="0"/>
          </a:p>
        </p:txBody>
      </p:sp>
      <p:sp>
        <p:nvSpPr>
          <p:cNvPr id="13" name="Text 11"/>
          <p:cNvSpPr/>
          <p:nvPr/>
        </p:nvSpPr>
        <p:spPr>
          <a:xfrm>
            <a:off x="4516914" y="2075179"/>
            <a:ext cx="1341993" cy="388620"/>
          </a:xfrm>
          <a:prstGeom prst="roundRect">
            <a:avLst>
              <a:gd name="adj" fmla="val 9804"/>
            </a:avLst>
          </a:prstGeom>
          <a:solidFill>
            <a:srgbClr val="D5F5E3"/>
          </a:solidFill>
        </p:spPr>
        <p:txBody>
          <a:bodyPr wrap="square" lIns="26941" tIns="52341" rIns="26941" bIns="26941" rtlCol="0" anchor="t">
            <a:normAutofit/>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ID</a:t>
            </a:r>
            <a:endParaRPr lang="en-US" sz="1300" dirty="0"/>
          </a:p>
        </p:txBody>
      </p:sp>
      <p:sp>
        <p:nvSpPr>
          <p:cNvPr id="14" name="Text 12"/>
          <p:cNvSpPr/>
          <p:nvPr/>
        </p:nvSpPr>
        <p:spPr>
          <a:xfrm>
            <a:off x="5906532" y="2084704"/>
            <a:ext cx="1322864" cy="369570"/>
          </a:xfrm>
          <a:prstGeom prst="roundRect">
            <a:avLst>
              <a:gd name="adj" fmla="val 7732"/>
            </a:avLst>
          </a:prstGeom>
          <a:solidFill>
            <a:srgbClr val="FCF3CF"/>
          </a:solidFill>
          <a:ln w="19050">
            <a:solidFill>
              <a:srgbClr val="C2600F"/>
            </a:solidFill>
            <a:prstDash val="solid"/>
          </a:ln>
        </p:spPr>
        <p:txBody>
          <a:bodyPr wrap="square" lIns="35446" tIns="60846" rIns="35446" bIns="35446" rtlCol="0" anchor="t">
            <a:normAutofit/>
          </a:bodyPr>
          <a:lstStyle/>
          <a:p>
            <a:pPr marL="0" indent="0" algn="ctr">
              <a:lnSpc>
                <a:spcPts val="1820"/>
              </a:lnSpc>
              <a:buNone/>
            </a:pPr>
            <a:r>
              <a:rPr lang="en-US" sz="1300" b="1" dirty="0">
                <a:solidFill>
                  <a:srgbClr val="1B2638"/>
                </a:solidFill>
                <a:latin typeface="Arial" panose="020B0604020202020204" pitchFamily="34" charset="0"/>
                <a:ea typeface="Arial" panose="020B0604020202020204" pitchFamily="34" charset="-122"/>
                <a:cs typeface="Arial" panose="020B0604020202020204" pitchFamily="34" charset="-120"/>
              </a:rPr>
              <a:t>EX · taken</a:t>
            </a:r>
            <a:endParaRPr lang="en-US" sz="1300" dirty="0"/>
          </a:p>
        </p:txBody>
      </p:sp>
      <p:sp>
        <p:nvSpPr>
          <p:cNvPr id="15" name="Text 13"/>
          <p:cNvSpPr/>
          <p:nvPr/>
        </p:nvSpPr>
        <p:spPr>
          <a:xfrm>
            <a:off x="7277021" y="2075179"/>
            <a:ext cx="1341993" cy="388620"/>
          </a:xfrm>
          <a:prstGeom prst="roundRect">
            <a:avLst>
              <a:gd name="adj" fmla="val 9804"/>
            </a:avLst>
          </a:prstGeom>
          <a:solidFill>
            <a:srgbClr val="FADBD8"/>
          </a:solidFill>
        </p:spPr>
        <p:txBody>
          <a:bodyPr wrap="square" lIns="26941" tIns="52341" rIns="26941" bIns="26941" rtlCol="0" anchor="t">
            <a:normAutofit/>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MEM</a:t>
            </a:r>
            <a:endParaRPr lang="en-US" sz="1300" dirty="0"/>
          </a:p>
        </p:txBody>
      </p:sp>
      <p:sp>
        <p:nvSpPr>
          <p:cNvPr id="16" name="Text 14"/>
          <p:cNvSpPr/>
          <p:nvPr/>
        </p:nvSpPr>
        <p:spPr>
          <a:xfrm>
            <a:off x="8657114" y="2075179"/>
            <a:ext cx="1341993" cy="388620"/>
          </a:xfrm>
          <a:prstGeom prst="roundRect">
            <a:avLst>
              <a:gd name="adj" fmla="val 9804"/>
            </a:avLst>
          </a:prstGeom>
          <a:solidFill>
            <a:srgbClr val="E8DAEF"/>
          </a:solidFill>
        </p:spPr>
        <p:txBody>
          <a:bodyPr wrap="square" lIns="26941" tIns="52341" rIns="26941" bIns="26941" rtlCol="0" anchor="t">
            <a:normAutofit/>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WB</a:t>
            </a:r>
            <a:endParaRPr lang="en-US" sz="1300" dirty="0"/>
          </a:p>
        </p:txBody>
      </p:sp>
      <p:sp>
        <p:nvSpPr>
          <p:cNvPr id="17" name="Text 15"/>
          <p:cNvSpPr/>
          <p:nvPr/>
        </p:nvSpPr>
        <p:spPr>
          <a:xfrm>
            <a:off x="812800" y="2565400"/>
            <a:ext cx="2354580" cy="25654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1B2638"/>
                </a:solidFill>
                <a:latin typeface="Courier New" panose="02070309020205020404" pitchFamily="49" charset="0"/>
                <a:ea typeface="Courier New" panose="02070309020205020404" pitchFamily="49" charset="-122"/>
                <a:cs typeface="Courier New" panose="02070309020205020404" pitchFamily="49" charset="-120"/>
              </a:rPr>
              <a:t>08: LDI R7,0xFF</a:t>
            </a:r>
            <a:endParaRPr lang="en-US" sz="1300" dirty="0"/>
          </a:p>
        </p:txBody>
      </p:sp>
      <p:sp>
        <p:nvSpPr>
          <p:cNvPr id="18" name="Text 16"/>
          <p:cNvSpPr/>
          <p:nvPr/>
        </p:nvSpPr>
        <p:spPr>
          <a:xfrm>
            <a:off x="4516914" y="2501900"/>
            <a:ext cx="1341993" cy="358140"/>
          </a:xfrm>
          <a:prstGeom prst="roundRect">
            <a:avLst>
              <a:gd name="adj" fmla="val 10638"/>
            </a:avLst>
          </a:prstGeom>
          <a:solidFill>
            <a:srgbClr val="D6EAF8"/>
          </a:solidFill>
        </p:spPr>
        <p:txBody>
          <a:bodyPr wrap="square" lIns="26941" tIns="52341" rIns="26941" bIns="26941" rtlCol="0" anchor="t">
            <a:normAutofit/>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IF</a:t>
            </a:r>
            <a:endParaRPr lang="en-US" sz="1300" dirty="0"/>
          </a:p>
        </p:txBody>
      </p:sp>
      <p:sp>
        <p:nvSpPr>
          <p:cNvPr id="19" name="Text 17"/>
          <p:cNvSpPr/>
          <p:nvPr/>
        </p:nvSpPr>
        <p:spPr>
          <a:xfrm>
            <a:off x="5897007" y="2501900"/>
            <a:ext cx="1341914" cy="358140"/>
          </a:xfrm>
          <a:prstGeom prst="roundRect">
            <a:avLst>
              <a:gd name="adj" fmla="val 10638"/>
            </a:avLst>
          </a:prstGeom>
          <a:solidFill>
            <a:srgbClr val="D3D8DF"/>
          </a:solidFill>
        </p:spPr>
        <p:txBody>
          <a:bodyPr wrap="square" lIns="26941" tIns="52341" rIns="26941" bIns="26941" rtlCol="0" anchor="t">
            <a:normAutofit/>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flushed</a:t>
            </a:r>
            <a:endParaRPr lang="en-US" sz="1300" dirty="0"/>
          </a:p>
        </p:txBody>
      </p:sp>
      <p:sp>
        <p:nvSpPr>
          <p:cNvPr id="20" name="Text 18"/>
          <p:cNvSpPr/>
          <p:nvPr/>
        </p:nvSpPr>
        <p:spPr>
          <a:xfrm>
            <a:off x="812800" y="2961642"/>
            <a:ext cx="2354580" cy="25654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1B2638"/>
                </a:solidFill>
                <a:latin typeface="Courier New" panose="02070309020205020404" pitchFamily="49" charset="0"/>
                <a:ea typeface="Courier New" panose="02070309020205020404" pitchFamily="49" charset="-122"/>
                <a:cs typeface="Courier New" panose="02070309020205020404" pitchFamily="49" charset="-120"/>
              </a:rPr>
              <a:t>09: LDI R6,0x00</a:t>
            </a:r>
            <a:endParaRPr lang="en-US" sz="1300" dirty="0"/>
          </a:p>
        </p:txBody>
      </p:sp>
      <p:sp>
        <p:nvSpPr>
          <p:cNvPr id="21" name="Text 19"/>
          <p:cNvSpPr/>
          <p:nvPr/>
        </p:nvSpPr>
        <p:spPr>
          <a:xfrm>
            <a:off x="5897007" y="2898142"/>
            <a:ext cx="1341914" cy="358140"/>
          </a:xfrm>
          <a:prstGeom prst="roundRect">
            <a:avLst>
              <a:gd name="adj" fmla="val 10638"/>
            </a:avLst>
          </a:prstGeom>
          <a:solidFill>
            <a:srgbClr val="D3D8DF"/>
          </a:solidFill>
        </p:spPr>
        <p:txBody>
          <a:bodyPr wrap="square" lIns="26941" tIns="52341" rIns="26941" bIns="26941" rtlCol="0" anchor="t">
            <a:normAutofit/>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flushed</a:t>
            </a:r>
            <a:endParaRPr lang="en-US" sz="1300" dirty="0"/>
          </a:p>
        </p:txBody>
      </p:sp>
      <p:sp>
        <p:nvSpPr>
          <p:cNvPr id="22" name="Text 20"/>
          <p:cNvSpPr/>
          <p:nvPr/>
        </p:nvSpPr>
        <p:spPr>
          <a:xfrm>
            <a:off x="812800" y="3357879"/>
            <a:ext cx="2354580" cy="25654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1B2638"/>
                </a:solidFill>
                <a:latin typeface="Courier New" panose="02070309020205020404" pitchFamily="49" charset="0"/>
                <a:ea typeface="Courier New" panose="02070309020205020404" pitchFamily="49" charset="-122"/>
                <a:cs typeface="Courier New" panose="02070309020205020404" pitchFamily="49" charset="-120"/>
              </a:rPr>
              <a:t>0A: LDI R1,5</a:t>
            </a:r>
            <a:endParaRPr lang="en-US" sz="1300" dirty="0"/>
          </a:p>
        </p:txBody>
      </p:sp>
      <p:sp>
        <p:nvSpPr>
          <p:cNvPr id="23" name="Text 21"/>
          <p:cNvSpPr/>
          <p:nvPr/>
        </p:nvSpPr>
        <p:spPr>
          <a:xfrm>
            <a:off x="7277021" y="3294379"/>
            <a:ext cx="1341993" cy="358140"/>
          </a:xfrm>
          <a:prstGeom prst="roundRect">
            <a:avLst>
              <a:gd name="adj" fmla="val 10638"/>
            </a:avLst>
          </a:prstGeom>
          <a:solidFill>
            <a:srgbClr val="D6EAF8"/>
          </a:solidFill>
        </p:spPr>
        <p:txBody>
          <a:bodyPr wrap="square" lIns="26941" tIns="52341" rIns="26941" bIns="26941" rtlCol="0" anchor="t">
            <a:normAutofit/>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IF</a:t>
            </a:r>
            <a:endParaRPr lang="en-US" sz="1300" dirty="0"/>
          </a:p>
        </p:txBody>
      </p:sp>
      <p:sp>
        <p:nvSpPr>
          <p:cNvPr id="24" name="Text 22"/>
          <p:cNvSpPr/>
          <p:nvPr/>
        </p:nvSpPr>
        <p:spPr>
          <a:xfrm>
            <a:off x="8657114" y="3294379"/>
            <a:ext cx="1341993" cy="358140"/>
          </a:xfrm>
          <a:prstGeom prst="roundRect">
            <a:avLst>
              <a:gd name="adj" fmla="val 10638"/>
            </a:avLst>
          </a:prstGeom>
          <a:solidFill>
            <a:srgbClr val="D5F5E3"/>
          </a:solidFill>
        </p:spPr>
        <p:txBody>
          <a:bodyPr wrap="square" lIns="26941" tIns="52341" rIns="26941" bIns="26941" rtlCol="0" anchor="t">
            <a:normAutofit/>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ID</a:t>
            </a:r>
            <a:endParaRPr lang="en-US" sz="1300" dirty="0"/>
          </a:p>
        </p:txBody>
      </p:sp>
      <p:sp>
        <p:nvSpPr>
          <p:cNvPr id="25" name="Text 23"/>
          <p:cNvSpPr/>
          <p:nvPr/>
        </p:nvSpPr>
        <p:spPr>
          <a:xfrm>
            <a:off x="10037207" y="3294379"/>
            <a:ext cx="1341914" cy="358140"/>
          </a:xfrm>
          <a:prstGeom prst="roundRect">
            <a:avLst>
              <a:gd name="adj" fmla="val 10638"/>
            </a:avLst>
          </a:prstGeom>
          <a:solidFill>
            <a:srgbClr val="FCF3CF"/>
          </a:solidFill>
        </p:spPr>
        <p:txBody>
          <a:bodyPr wrap="square" lIns="26941" tIns="52341" rIns="26941" bIns="26941" rtlCol="0" anchor="t">
            <a:normAutofit/>
          </a:bodyPr>
          <a:lstStyle/>
          <a:p>
            <a:pPr marL="0" indent="0" algn="ctr">
              <a:lnSpc>
                <a:spcPts val="1820"/>
              </a:lnSpc>
              <a:buNone/>
            </a:pPr>
            <a:r>
              <a:rPr lang="en-US" sz="1300" dirty="0">
                <a:solidFill>
                  <a:srgbClr val="1B2638"/>
                </a:solidFill>
                <a:latin typeface="Arial" panose="020B0604020202020204" pitchFamily="34" charset="0"/>
                <a:ea typeface="Arial" panose="020B0604020202020204" pitchFamily="34" charset="-122"/>
                <a:cs typeface="Arial" panose="020B0604020202020204" pitchFamily="34" charset="-120"/>
              </a:rPr>
              <a:t>EX</a:t>
            </a:r>
            <a:endParaRPr lang="en-US" sz="1300" dirty="0"/>
          </a:p>
        </p:txBody>
      </p:sp>
      <p:sp>
        <p:nvSpPr>
          <p:cNvPr id="26" name="Shape 24"/>
          <p:cNvSpPr/>
          <p:nvPr/>
        </p:nvSpPr>
        <p:spPr>
          <a:xfrm>
            <a:off x="815975" y="3909696"/>
            <a:ext cx="3380264" cy="935990"/>
          </a:xfrm>
          <a:prstGeom prst="roundRect">
            <a:avLst>
              <a:gd name="adj" fmla="val 7802"/>
            </a:avLst>
          </a:prstGeom>
          <a:solidFill>
            <a:srgbClr val="FFFFFF"/>
          </a:solidFill>
          <a:ln w="6350">
            <a:solidFill>
              <a:srgbClr val="DCE1E8"/>
            </a:solidFill>
            <a:prstDash val="solid"/>
          </a:ln>
        </p:spPr>
      </p:sp>
      <p:sp>
        <p:nvSpPr>
          <p:cNvPr id="27" name="Text 25"/>
          <p:cNvSpPr/>
          <p:nvPr/>
        </p:nvSpPr>
        <p:spPr>
          <a:xfrm>
            <a:off x="1021080" y="4114800"/>
            <a:ext cx="3059155" cy="26924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13213A"/>
                </a:solidFill>
                <a:latin typeface="Arial" panose="020B0604020202020204" pitchFamily="34" charset="0"/>
                <a:ea typeface="Arial" panose="020B0604020202020204" pitchFamily="34" charset="-122"/>
                <a:cs typeface="Arial" panose="020B0604020202020204" pitchFamily="34" charset="-120"/>
              </a:rPr>
              <a:t>Resolved in EX</a:t>
            </a:r>
            <a:endParaRPr lang="en-US" sz="1600" dirty="0"/>
          </a:p>
        </p:txBody>
      </p:sp>
      <p:sp>
        <p:nvSpPr>
          <p:cNvPr id="28" name="Text 26"/>
          <p:cNvSpPr/>
          <p:nvPr/>
        </p:nvSpPr>
        <p:spPr>
          <a:xfrm>
            <a:off x="1021080" y="4409442"/>
            <a:ext cx="3059155" cy="25654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3E4A5C"/>
                </a:solidFill>
                <a:latin typeface="Arial" panose="020B0604020202020204" pitchFamily="34" charset="0"/>
                <a:ea typeface="Arial" panose="020B0604020202020204" pitchFamily="34" charset="-122"/>
                <a:cs typeface="Arial" panose="020B0604020202020204" pitchFamily="34" charset="-120"/>
              </a:rPr>
              <a:t>Z flag is ready, PC ← target</a:t>
            </a:r>
            <a:endParaRPr lang="en-US" sz="1300" dirty="0"/>
          </a:p>
        </p:txBody>
      </p:sp>
      <p:sp>
        <p:nvSpPr>
          <p:cNvPr id="29" name="Shape 27"/>
          <p:cNvSpPr/>
          <p:nvPr/>
        </p:nvSpPr>
        <p:spPr>
          <a:xfrm>
            <a:off x="4405789" y="3909696"/>
            <a:ext cx="3380343" cy="935990"/>
          </a:xfrm>
          <a:prstGeom prst="roundRect">
            <a:avLst>
              <a:gd name="adj" fmla="val 7802"/>
            </a:avLst>
          </a:prstGeom>
          <a:solidFill>
            <a:srgbClr val="FFFFFF"/>
          </a:solidFill>
          <a:ln w="6350">
            <a:solidFill>
              <a:srgbClr val="DCE1E8"/>
            </a:solidFill>
            <a:prstDash val="solid"/>
          </a:ln>
        </p:spPr>
      </p:sp>
      <p:sp>
        <p:nvSpPr>
          <p:cNvPr id="30" name="Text 28"/>
          <p:cNvSpPr/>
          <p:nvPr/>
        </p:nvSpPr>
        <p:spPr>
          <a:xfrm>
            <a:off x="4610894" y="4114800"/>
            <a:ext cx="3059237" cy="26924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13213A"/>
                </a:solidFill>
                <a:latin typeface="Arial" panose="020B0604020202020204" pitchFamily="34" charset="0"/>
                <a:ea typeface="Arial" panose="020B0604020202020204" pitchFamily="34" charset="-122"/>
                <a:cs typeface="Arial" panose="020B0604020202020204" pitchFamily="34" charset="-120"/>
              </a:rPr>
              <a:t>2-cycle penalty</a:t>
            </a:r>
            <a:endParaRPr lang="en-US" sz="1600" dirty="0"/>
          </a:p>
        </p:txBody>
      </p:sp>
      <p:sp>
        <p:nvSpPr>
          <p:cNvPr id="31" name="Text 29"/>
          <p:cNvSpPr/>
          <p:nvPr/>
        </p:nvSpPr>
        <p:spPr>
          <a:xfrm>
            <a:off x="4610894" y="4409442"/>
            <a:ext cx="3059237" cy="25654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3E4A5C"/>
                </a:solidFill>
                <a:latin typeface="Arial" panose="020B0604020202020204" pitchFamily="34" charset="0"/>
                <a:ea typeface="Arial" panose="020B0604020202020204" pitchFamily="34" charset="-122"/>
                <a:cs typeface="Arial" panose="020B0604020202020204" pitchFamily="34" charset="-120"/>
              </a:rPr>
              <a:t>Only when taken; not-taken is free</a:t>
            </a:r>
            <a:endParaRPr lang="en-US" sz="1300" dirty="0"/>
          </a:p>
        </p:txBody>
      </p:sp>
      <p:sp>
        <p:nvSpPr>
          <p:cNvPr id="32" name="Shape 30"/>
          <p:cNvSpPr/>
          <p:nvPr/>
        </p:nvSpPr>
        <p:spPr>
          <a:xfrm>
            <a:off x="7995682" y="3909696"/>
            <a:ext cx="3380343" cy="935990"/>
          </a:xfrm>
          <a:prstGeom prst="roundRect">
            <a:avLst>
              <a:gd name="adj" fmla="val 7802"/>
            </a:avLst>
          </a:prstGeom>
          <a:solidFill>
            <a:srgbClr val="FFFFFF"/>
          </a:solidFill>
          <a:ln w="6350">
            <a:solidFill>
              <a:srgbClr val="DCE1E8"/>
            </a:solidFill>
            <a:prstDash val="solid"/>
          </a:ln>
        </p:spPr>
      </p:sp>
      <p:sp>
        <p:nvSpPr>
          <p:cNvPr id="33" name="Text 31"/>
          <p:cNvSpPr/>
          <p:nvPr/>
        </p:nvSpPr>
        <p:spPr>
          <a:xfrm>
            <a:off x="8200787" y="4114800"/>
            <a:ext cx="3059237" cy="26924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13213A"/>
                </a:solidFill>
                <a:latin typeface="Arial" panose="020B0604020202020204" pitchFamily="34" charset="0"/>
                <a:ea typeface="Arial" panose="020B0604020202020204" pitchFamily="34" charset="-122"/>
                <a:cs typeface="Arial" panose="020B0604020202020204" pitchFamily="34" charset="-120"/>
              </a:rPr>
              <a:t>6 flushes in test</a:t>
            </a:r>
            <a:endParaRPr lang="en-US" sz="1600" dirty="0"/>
          </a:p>
        </p:txBody>
      </p:sp>
      <p:sp>
        <p:nvSpPr>
          <p:cNvPr id="34" name="Text 32"/>
          <p:cNvSpPr/>
          <p:nvPr/>
        </p:nvSpPr>
        <p:spPr>
          <a:xfrm>
            <a:off x="8200787" y="4409442"/>
            <a:ext cx="3059237" cy="25654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3E4A5C"/>
                </a:solidFill>
                <a:latin typeface="Arial" panose="020B0604020202020204" pitchFamily="34" charset="0"/>
                <a:ea typeface="Arial" panose="020B0604020202020204" pitchFamily="34" charset="-122"/>
                <a:cs typeface="Arial" panose="020B0604020202020204" pitchFamily="34" charset="-120"/>
              </a:rPr>
              <a:t>BZ once, BNZ four times, JMP once</a:t>
            </a:r>
            <a:endParaRPr lang="en-US" sz="1300" dirty="0"/>
          </a:p>
        </p:txBody>
      </p:sp>
      <p:sp>
        <p:nvSpPr>
          <p:cNvPr id="35" name="Text 33"/>
          <p:cNvSpPr/>
          <p:nvPr/>
        </p:nvSpPr>
        <p:spPr>
          <a:xfrm>
            <a:off x="812800" y="6238242"/>
            <a:ext cx="588645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8-bit 5-Stage Pipelined RISC Processor</a:t>
            </a:r>
            <a:endParaRPr lang="en-US" sz="1200" dirty="0"/>
          </a:p>
        </p:txBody>
      </p:sp>
      <p:sp>
        <p:nvSpPr>
          <p:cNvPr id="36" name="Text 34"/>
          <p:cNvSpPr/>
          <p:nvPr/>
        </p:nvSpPr>
        <p:spPr>
          <a:xfrm>
            <a:off x="7454900" y="6238242"/>
            <a:ext cx="39243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Lê Kỳ Dũng · SE190745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9ED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A9520B"/>
                </a:solidFill>
                <a:latin typeface="Arial" panose="020B0604020202020204" pitchFamily="34" charset="0"/>
                <a:ea typeface="Arial" panose="020B0604020202020204" pitchFamily="34" charset="-122"/>
                <a:cs typeface="Arial" panose="020B0604020202020204" pitchFamily="34" charset="-120"/>
              </a:rPr>
              <a:t>VERIFICATION</a:t>
            </a:r>
            <a:endParaRPr lang="en-US" sz="1200" dirty="0"/>
          </a:p>
        </p:txBody>
      </p:sp>
      <p:sp>
        <p:nvSpPr>
          <p:cNvPr id="3" name="Text 1"/>
          <p:cNvSpPr/>
          <p:nvPr>
            <p:ph type="title"/>
          </p:nvPr>
        </p:nvSpPr>
        <p:spPr>
          <a:xfrm>
            <a:off x="812800" y="1102364"/>
            <a:ext cx="10883392" cy="492760"/>
          </a:xfrm>
          <a:prstGeom prst="rect">
            <a:avLst/>
          </a:prstGeom>
          <a:noFill/>
        </p:spPr>
        <p:txBody>
          <a:bodyPr wrap="square" lIns="0" tIns="0" rIns="0" bIns="0" rtlCol="0" anchor="t">
            <a:normAutofit/>
          </a:bodyPr>
          <a:lstStyle/>
          <a:p>
            <a:pPr marL="0" indent="0" algn="l">
              <a:lnSpc>
                <a:spcPts val="3680"/>
              </a:lnSpc>
              <a:buNone/>
            </a:pPr>
            <a:r>
              <a:rPr lang="en-US" sz="3200" b="1" i="0" dirty="0">
                <a:solidFill>
                  <a:srgbClr val="13213A"/>
                </a:solidFill>
                <a:latin typeface="Arial" panose="020B0604020202020204" pitchFamily="34" charset="0"/>
                <a:ea typeface="Arial" panose="020B0604020202020204" pitchFamily="34" charset="-122"/>
                <a:cs typeface="Arial" panose="020B0604020202020204" pitchFamily="34" charset="-120"/>
              </a:rPr>
              <a:t>Self-checking testbench: all checks pass</a:t>
            </a:r>
            <a:endParaRPr lang="en-US" sz="3200" dirty="0"/>
          </a:p>
        </p:txBody>
      </p:sp>
      <p:sp>
        <p:nvSpPr>
          <p:cNvPr id="4" name="Shape 2"/>
          <p:cNvSpPr/>
          <p:nvPr/>
        </p:nvSpPr>
        <p:spPr>
          <a:xfrm>
            <a:off x="812800" y="1823721"/>
            <a:ext cx="6731000" cy="3854450"/>
          </a:xfrm>
          <a:prstGeom prst="roundRect">
            <a:avLst>
              <a:gd name="adj" fmla="val 1977"/>
            </a:avLst>
          </a:prstGeom>
          <a:solidFill>
            <a:srgbClr val="FFFFFF"/>
          </a:solidFill>
        </p:spPr>
      </p:sp>
      <p:pic>
        <p:nvPicPr>
          <p:cNvPr id="5" name="Image 0" descr="Vivado Tcl console: PASS for R1 to R7, MEM[0x20] and Z,C; statistics 51 cycles, 34 instructions, CPI 1.50, 1 stall, 6 taken branches, 15 forwarded operands; ALL TESTS PASSED at 526 ns"/>
          <p:cNvPicPr>
            <a:picLocks noChangeAspect="1"/>
          </p:cNvPicPr>
          <p:nvPr/>
        </p:nvPicPr>
        <p:blipFill>
          <a:blip r:embed="rId1"/>
          <a:srcRect l="-85" r="-85"/>
          <a:stretch>
            <a:fillRect/>
          </a:stretch>
        </p:blipFill>
        <p:spPr>
          <a:xfrm>
            <a:off x="819150" y="1830071"/>
            <a:ext cx="6718300" cy="3841750"/>
          </a:xfrm>
          <a:prstGeom prst="roundRect">
            <a:avLst>
              <a:gd name="adj" fmla="val 1818"/>
            </a:avLst>
          </a:prstGeom>
        </p:spPr>
      </p:pic>
      <p:sp>
        <p:nvSpPr>
          <p:cNvPr id="6" name="Shape 3"/>
          <p:cNvSpPr/>
          <p:nvPr/>
        </p:nvSpPr>
        <p:spPr>
          <a:xfrm>
            <a:off x="815975" y="1826896"/>
            <a:ext cx="6724650" cy="3848100"/>
          </a:xfrm>
          <a:prstGeom prst="roundRect">
            <a:avLst>
              <a:gd name="adj" fmla="val 1898"/>
            </a:avLst>
          </a:prstGeom>
          <a:noFill/>
          <a:ln w="6350">
            <a:solidFill>
              <a:srgbClr val="CFD6DF"/>
            </a:solidFill>
            <a:prstDash val="solid"/>
          </a:ln>
        </p:spPr>
      </p:sp>
      <p:pic>
        <p:nvPicPr>
          <p:cNvPr id="7" name="Image 1" descr="CheckCircle"/>
          <p:cNvPicPr>
            <a:picLocks noChangeAspect="1"/>
          </p:cNvPicPr>
          <p:nvPr/>
        </p:nvPicPr>
        <p:blipFill>
          <a:blip r:embed="rId2"/>
          <a:srcRect/>
          <a:stretch>
            <a:fillRect/>
          </a:stretch>
        </p:blipFill>
        <p:spPr>
          <a:xfrm>
            <a:off x="7848600" y="1823721"/>
            <a:ext cx="457200" cy="457200"/>
          </a:xfrm>
          <a:prstGeom prst="rect">
            <a:avLst/>
          </a:prstGeom>
        </p:spPr>
      </p:pic>
      <p:sp>
        <p:nvSpPr>
          <p:cNvPr id="8" name="Text 4"/>
          <p:cNvSpPr/>
          <p:nvPr/>
        </p:nvSpPr>
        <p:spPr>
          <a:xfrm>
            <a:off x="8407400" y="1856742"/>
            <a:ext cx="1633728" cy="416560"/>
          </a:xfrm>
          <a:prstGeom prst="rect">
            <a:avLst/>
          </a:prstGeom>
          <a:noFill/>
        </p:spPr>
        <p:txBody>
          <a:bodyPr wrap="square" lIns="0" tIns="0" rIns="0" bIns="0" rtlCol="0" anchor="t">
            <a:normAutofit/>
          </a:bodyPr>
          <a:lstStyle/>
          <a:p>
            <a:pPr marL="0" indent="0" algn="l">
              <a:lnSpc>
                <a:spcPts val="3080"/>
              </a:lnSpc>
              <a:buNone/>
            </a:pPr>
            <a:r>
              <a:rPr lang="en-US" sz="2200" b="1" dirty="0">
                <a:solidFill>
                  <a:srgbClr val="13213A"/>
                </a:solidFill>
                <a:latin typeface="Arial" panose="020B0604020202020204" pitchFamily="34" charset="0"/>
                <a:ea typeface="Arial" panose="020B0604020202020204" pitchFamily="34" charset="-122"/>
                <a:cs typeface="Arial" panose="020B0604020202020204" pitchFamily="34" charset="-120"/>
              </a:rPr>
              <a:t>9 / 9 PASS</a:t>
            </a:r>
            <a:endParaRPr lang="en-US" sz="2200" dirty="0"/>
          </a:p>
        </p:txBody>
      </p:sp>
      <p:sp>
        <p:nvSpPr>
          <p:cNvPr id="9" name="Text 5"/>
          <p:cNvSpPr/>
          <p:nvPr/>
        </p:nvSpPr>
        <p:spPr>
          <a:xfrm>
            <a:off x="7848600" y="2458721"/>
            <a:ext cx="3636518" cy="52324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3E4A5C"/>
                </a:solidFill>
                <a:latin typeface="Arial" panose="020B0604020202020204" pitchFamily="34" charset="0"/>
                <a:ea typeface="Arial" panose="020B0604020202020204" pitchFamily="34" charset="-122"/>
                <a:cs typeface="Arial" panose="020B0604020202020204" pitchFamily="34" charset="-120"/>
              </a:rPr>
              <a:t>R1–R7, MEM[0x20] and the Z, C flags match the expected values.</a:t>
            </a:r>
            <a:endParaRPr lang="en-US" sz="1400" dirty="0"/>
          </a:p>
        </p:txBody>
      </p:sp>
      <p:sp>
        <p:nvSpPr>
          <p:cNvPr id="10" name="Text 6"/>
          <p:cNvSpPr/>
          <p:nvPr/>
        </p:nvSpPr>
        <p:spPr>
          <a:xfrm>
            <a:off x="7848600" y="3134364"/>
            <a:ext cx="3636518" cy="52324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3E4A5C"/>
                </a:solidFill>
                <a:latin typeface="Arial" panose="020B0604020202020204" pitchFamily="34" charset="0"/>
                <a:ea typeface="Arial" panose="020B0604020202020204" pitchFamily="34" charset="-122"/>
                <a:cs typeface="Arial" panose="020B0604020202020204" pitchFamily="34" charset="-120"/>
              </a:rPr>
              <a:t>R3, R6, R7 correct → the wrong-path instructions were really flushed.</a:t>
            </a:r>
            <a:endParaRPr lang="en-US" sz="1400" dirty="0"/>
          </a:p>
        </p:txBody>
      </p:sp>
      <p:sp>
        <p:nvSpPr>
          <p:cNvPr id="11" name="Text 7"/>
          <p:cNvSpPr/>
          <p:nvPr/>
        </p:nvSpPr>
        <p:spPr>
          <a:xfrm>
            <a:off x="7848600" y="3810000"/>
            <a:ext cx="3636518" cy="52324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3E4A5C"/>
                </a:solidFill>
                <a:latin typeface="Arial" panose="020B0604020202020204" pitchFamily="34" charset="0"/>
                <a:ea typeface="Arial" panose="020B0604020202020204" pitchFamily="34" charset="-122"/>
                <a:cs typeface="Arial" panose="020B0604020202020204" pitchFamily="34" charset="-120"/>
              </a:rPr>
              <a:t>The test covers every hazard: forwarding, stall, BZ, BNZ loop, JMP.</a:t>
            </a:r>
            <a:endParaRPr lang="en-US" sz="1400" dirty="0"/>
          </a:p>
        </p:txBody>
      </p:sp>
      <p:sp>
        <p:nvSpPr>
          <p:cNvPr id="12" name="Text 8"/>
          <p:cNvSpPr/>
          <p:nvPr/>
        </p:nvSpPr>
        <p:spPr>
          <a:xfrm>
            <a:off x="812800" y="6238242"/>
            <a:ext cx="588645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8-bit 5-Stage Pipelined RISC Processor</a:t>
            </a:r>
            <a:endParaRPr lang="en-US" sz="1200" dirty="0"/>
          </a:p>
        </p:txBody>
      </p:sp>
      <p:sp>
        <p:nvSpPr>
          <p:cNvPr id="13" name="Text 9"/>
          <p:cNvSpPr/>
          <p:nvPr/>
        </p:nvSpPr>
        <p:spPr>
          <a:xfrm>
            <a:off x="7454900" y="6238242"/>
            <a:ext cx="39243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Lê Kỳ Dũng · SE190745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9ED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A9520B"/>
                </a:solidFill>
                <a:latin typeface="Arial" panose="020B0604020202020204" pitchFamily="34" charset="0"/>
                <a:ea typeface="Arial" panose="020B0604020202020204" pitchFamily="34" charset="-122"/>
                <a:cs typeface="Arial" panose="020B0604020202020204" pitchFamily="34" charset="-120"/>
              </a:rPr>
              <a:t>VERIFICATION</a:t>
            </a:r>
            <a:endParaRPr lang="en-US" sz="1200" dirty="0"/>
          </a:p>
        </p:txBody>
      </p:sp>
      <p:sp>
        <p:nvSpPr>
          <p:cNvPr id="3" name="Text 1"/>
          <p:cNvSpPr/>
          <p:nvPr>
            <p:ph type="title"/>
          </p:nvPr>
        </p:nvSpPr>
        <p:spPr>
          <a:xfrm>
            <a:off x="812800" y="1102364"/>
            <a:ext cx="10883392" cy="492760"/>
          </a:xfrm>
          <a:prstGeom prst="rect">
            <a:avLst/>
          </a:prstGeom>
          <a:noFill/>
        </p:spPr>
        <p:txBody>
          <a:bodyPr wrap="square" lIns="0" tIns="0" rIns="0" bIns="0" rtlCol="0" anchor="t">
            <a:normAutofit/>
          </a:bodyPr>
          <a:lstStyle/>
          <a:p>
            <a:pPr marL="0" indent="0" algn="l">
              <a:lnSpc>
                <a:spcPts val="3680"/>
              </a:lnSpc>
              <a:buNone/>
            </a:pPr>
            <a:r>
              <a:rPr lang="en-US" sz="3200" b="1" i="0" dirty="0">
                <a:solidFill>
                  <a:srgbClr val="13213A"/>
                </a:solidFill>
                <a:latin typeface="Arial" panose="020B0604020202020204" pitchFamily="34" charset="0"/>
                <a:ea typeface="Arial" panose="020B0604020202020204" pitchFamily="34" charset="-122"/>
                <a:cs typeface="Arial" panose="020B0604020202020204" pitchFamily="34" charset="-120"/>
              </a:rPr>
              <a:t>The waveform tells the same story</a:t>
            </a:r>
            <a:endParaRPr lang="en-US" sz="3200" dirty="0"/>
          </a:p>
        </p:txBody>
      </p:sp>
      <p:sp>
        <p:nvSpPr>
          <p:cNvPr id="4" name="Shape 2"/>
          <p:cNvSpPr/>
          <p:nvPr/>
        </p:nvSpPr>
        <p:spPr>
          <a:xfrm>
            <a:off x="812800" y="1823721"/>
            <a:ext cx="10566400" cy="3213100"/>
          </a:xfrm>
          <a:prstGeom prst="roundRect">
            <a:avLst>
              <a:gd name="adj" fmla="val 2372"/>
            </a:avLst>
          </a:prstGeom>
          <a:solidFill>
            <a:srgbClr val="FFFFFF"/>
          </a:solidFill>
        </p:spPr>
      </p:sp>
      <p:pic>
        <p:nvPicPr>
          <p:cNvPr id="5" name="Image 0" descr="Vivado waveform 0 to 526 ns: clk, rst, halted, pc_out, flags_out, instr_done and testbench counters cycle, n_instr, n_stall, n_flush, n_fwd, errors"/>
          <p:cNvPicPr>
            <a:picLocks noChangeAspect="1"/>
          </p:cNvPicPr>
          <p:nvPr/>
        </p:nvPicPr>
        <p:blipFill>
          <a:blip r:embed="rId1"/>
          <a:srcRect l="-140" r="-140"/>
          <a:stretch>
            <a:fillRect/>
          </a:stretch>
        </p:blipFill>
        <p:spPr>
          <a:xfrm>
            <a:off x="819150" y="1830071"/>
            <a:ext cx="10553700" cy="3200400"/>
          </a:xfrm>
          <a:prstGeom prst="roundRect">
            <a:avLst>
              <a:gd name="adj" fmla="val 2183"/>
            </a:avLst>
          </a:prstGeom>
        </p:spPr>
      </p:pic>
      <p:sp>
        <p:nvSpPr>
          <p:cNvPr id="6" name="Shape 3"/>
          <p:cNvSpPr/>
          <p:nvPr/>
        </p:nvSpPr>
        <p:spPr>
          <a:xfrm>
            <a:off x="815975" y="1826896"/>
            <a:ext cx="10560050" cy="3206750"/>
          </a:xfrm>
          <a:prstGeom prst="roundRect">
            <a:avLst>
              <a:gd name="adj" fmla="val 2277"/>
            </a:avLst>
          </a:prstGeom>
          <a:noFill/>
          <a:ln w="6350">
            <a:solidFill>
              <a:srgbClr val="CFD6DF"/>
            </a:solidFill>
            <a:prstDash val="solid"/>
          </a:ln>
        </p:spPr>
      </p:sp>
      <p:sp>
        <p:nvSpPr>
          <p:cNvPr id="7" name="Text 4"/>
          <p:cNvSpPr/>
          <p:nvPr/>
        </p:nvSpPr>
        <p:spPr>
          <a:xfrm>
            <a:off x="812800" y="5290821"/>
            <a:ext cx="2603119" cy="471170"/>
          </a:xfrm>
          <a:prstGeom prst="rect">
            <a:avLst/>
          </a:prstGeom>
          <a:noFill/>
        </p:spPr>
        <p:txBody>
          <a:bodyPr wrap="square" lIns="0" tIns="0" rIns="0" bIns="0" rtlCol="0" anchor="t">
            <a:normAutofit/>
          </a:bodyPr>
          <a:lstStyle/>
          <a:p>
            <a:pPr marL="0" indent="0" algn="l">
              <a:lnSpc>
                <a:spcPts val="1755"/>
              </a:lnSpc>
              <a:buNone/>
            </a:pPr>
            <a:r>
              <a:rPr lang="en-US" sz="1300" b="1" dirty="0">
                <a:solidFill>
                  <a:srgbClr val="3E4A5C"/>
                </a:solidFill>
                <a:latin typeface="Arial" panose="020B0604020202020204" pitchFamily="34" charset="0"/>
                <a:ea typeface="Arial" panose="020B0604020202020204" pitchFamily="34" charset="-122"/>
                <a:cs typeface="Arial" panose="020B0604020202020204" pitchFamily="34" charset="-120"/>
              </a:rPr>
              <a:t>n_flush</a:t>
            </a:r>
            <a:r>
              <a:rPr lang="en-US" sz="1300" dirty="0">
                <a:solidFill>
                  <a:srgbClr val="3E4A5C"/>
                </a:solidFill>
                <a:latin typeface="Arial" panose="020B0604020202020204" pitchFamily="34" charset="0"/>
                <a:ea typeface="Arial" panose="020B0604020202020204" pitchFamily="34" charset="-122"/>
                <a:cs typeface="Arial" panose="020B0604020202020204" pitchFamily="34" charset="-120"/>
              </a:rPr>
              <a:t> steps 0 → 6, one per taken branch</a:t>
            </a:r>
            <a:endParaRPr lang="en-US" sz="1300" dirty="0"/>
          </a:p>
        </p:txBody>
      </p:sp>
      <p:sp>
        <p:nvSpPr>
          <p:cNvPr id="8" name="Text 5"/>
          <p:cNvSpPr/>
          <p:nvPr/>
        </p:nvSpPr>
        <p:spPr>
          <a:xfrm>
            <a:off x="3492500" y="5290821"/>
            <a:ext cx="2603119" cy="471170"/>
          </a:xfrm>
          <a:prstGeom prst="rect">
            <a:avLst/>
          </a:prstGeom>
          <a:noFill/>
        </p:spPr>
        <p:txBody>
          <a:bodyPr wrap="square" lIns="0" tIns="0" rIns="0" bIns="0" rtlCol="0" anchor="t">
            <a:normAutofit/>
          </a:bodyPr>
          <a:lstStyle/>
          <a:p>
            <a:pPr marL="0" indent="0" algn="l">
              <a:lnSpc>
                <a:spcPts val="1755"/>
              </a:lnSpc>
              <a:buNone/>
            </a:pPr>
            <a:r>
              <a:rPr lang="en-US" sz="1300" b="1" dirty="0">
                <a:solidFill>
                  <a:srgbClr val="3E4A5C"/>
                </a:solidFill>
                <a:latin typeface="Arial" panose="020B0604020202020204" pitchFamily="34" charset="0"/>
                <a:ea typeface="Arial" panose="020B0604020202020204" pitchFamily="34" charset="-122"/>
                <a:cs typeface="Arial" panose="020B0604020202020204" pitchFamily="34" charset="-120"/>
              </a:rPr>
              <a:t>n_stall</a:t>
            </a:r>
            <a:r>
              <a:rPr lang="en-US" sz="1300" dirty="0">
                <a:solidFill>
                  <a:srgbClr val="3E4A5C"/>
                </a:solidFill>
                <a:latin typeface="Arial" panose="020B0604020202020204" pitchFamily="34" charset="0"/>
                <a:ea typeface="Arial" panose="020B0604020202020204" pitchFamily="34" charset="-122"/>
                <a:cs typeface="Arial" panose="020B0604020202020204" pitchFamily="34" charset="-120"/>
              </a:rPr>
              <a:t> becomes 1 near the end (load-use)</a:t>
            </a:r>
            <a:endParaRPr lang="en-US" sz="1300" dirty="0"/>
          </a:p>
        </p:txBody>
      </p:sp>
      <p:sp>
        <p:nvSpPr>
          <p:cNvPr id="9" name="Text 6"/>
          <p:cNvSpPr/>
          <p:nvPr/>
        </p:nvSpPr>
        <p:spPr>
          <a:xfrm>
            <a:off x="6172200" y="5290821"/>
            <a:ext cx="2603119" cy="471170"/>
          </a:xfrm>
          <a:prstGeom prst="rect">
            <a:avLst/>
          </a:prstGeom>
          <a:noFill/>
        </p:spPr>
        <p:txBody>
          <a:bodyPr wrap="square" lIns="0" tIns="0" rIns="0" bIns="0" rtlCol="0" anchor="t">
            <a:normAutofit/>
          </a:bodyPr>
          <a:lstStyle/>
          <a:p>
            <a:pPr marL="0" indent="0" algn="l">
              <a:lnSpc>
                <a:spcPts val="1755"/>
              </a:lnSpc>
              <a:buNone/>
            </a:pPr>
            <a:r>
              <a:rPr lang="en-US" sz="1300" b="1" dirty="0">
                <a:solidFill>
                  <a:srgbClr val="3E4A5C"/>
                </a:solidFill>
                <a:latin typeface="Arial" panose="020B0604020202020204" pitchFamily="34" charset="0"/>
                <a:ea typeface="Arial" panose="020B0604020202020204" pitchFamily="34" charset="-122"/>
                <a:cs typeface="Arial" panose="020B0604020202020204" pitchFamily="34" charset="-120"/>
              </a:rPr>
              <a:t>errors</a:t>
            </a:r>
            <a:r>
              <a:rPr lang="en-US" sz="1300" dirty="0">
                <a:solidFill>
                  <a:srgbClr val="3E4A5C"/>
                </a:solidFill>
                <a:latin typeface="Arial" panose="020B0604020202020204" pitchFamily="34" charset="0"/>
                <a:ea typeface="Arial" panose="020B0604020202020204" pitchFamily="34" charset="-122"/>
                <a:cs typeface="Arial" panose="020B0604020202020204" pitchFamily="34" charset="-120"/>
              </a:rPr>
              <a:t> stays 0 for the whole run</a:t>
            </a:r>
            <a:endParaRPr lang="en-US" sz="1300" dirty="0"/>
          </a:p>
        </p:txBody>
      </p:sp>
      <p:sp>
        <p:nvSpPr>
          <p:cNvPr id="10" name="Text 7"/>
          <p:cNvSpPr/>
          <p:nvPr/>
        </p:nvSpPr>
        <p:spPr>
          <a:xfrm>
            <a:off x="8851900" y="5290821"/>
            <a:ext cx="2603119" cy="471170"/>
          </a:xfrm>
          <a:prstGeom prst="rect">
            <a:avLst/>
          </a:prstGeom>
          <a:noFill/>
        </p:spPr>
        <p:txBody>
          <a:bodyPr wrap="square" lIns="0" tIns="0" rIns="0" bIns="0" rtlCol="0" anchor="t">
            <a:normAutofit/>
          </a:bodyPr>
          <a:lstStyle/>
          <a:p>
            <a:pPr marL="0" indent="0" algn="l">
              <a:lnSpc>
                <a:spcPts val="1755"/>
              </a:lnSpc>
              <a:buNone/>
            </a:pPr>
            <a:r>
              <a:rPr lang="en-US" sz="1300" b="1" dirty="0">
                <a:solidFill>
                  <a:srgbClr val="3E4A5C"/>
                </a:solidFill>
                <a:latin typeface="Arial" panose="020B0604020202020204" pitchFamily="34" charset="0"/>
                <a:ea typeface="Arial" panose="020B0604020202020204" pitchFamily="34" charset="-122"/>
                <a:cs typeface="Arial" panose="020B0604020202020204" pitchFamily="34" charset="-120"/>
              </a:rPr>
              <a:t>halted</a:t>
            </a:r>
            <a:r>
              <a:rPr lang="en-US" sz="1300" dirty="0">
                <a:solidFill>
                  <a:srgbClr val="3E4A5C"/>
                </a:solidFill>
                <a:latin typeface="Arial" panose="020B0604020202020204" pitchFamily="34" charset="0"/>
                <a:ea typeface="Arial" panose="020B0604020202020204" pitchFamily="34" charset="-122"/>
                <a:cs typeface="Arial" panose="020B0604020202020204" pitchFamily="34" charset="-120"/>
              </a:rPr>
              <a:t> rises at 526 ns after HLT</a:t>
            </a:r>
            <a:endParaRPr lang="en-US" sz="1300" dirty="0"/>
          </a:p>
        </p:txBody>
      </p:sp>
      <p:sp>
        <p:nvSpPr>
          <p:cNvPr id="11" name="Text 8"/>
          <p:cNvSpPr/>
          <p:nvPr/>
        </p:nvSpPr>
        <p:spPr>
          <a:xfrm>
            <a:off x="812800" y="6238242"/>
            <a:ext cx="588645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8-bit 5-Stage Pipelined RISC Processor</a:t>
            </a:r>
            <a:endParaRPr lang="en-US" sz="1200" dirty="0"/>
          </a:p>
        </p:txBody>
      </p:sp>
      <p:sp>
        <p:nvSpPr>
          <p:cNvPr id="12" name="Text 9"/>
          <p:cNvSpPr/>
          <p:nvPr/>
        </p:nvSpPr>
        <p:spPr>
          <a:xfrm>
            <a:off x="7454900" y="6238242"/>
            <a:ext cx="39243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Lê Kỳ Dũng · SE190745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A9520B"/>
                </a:solidFill>
                <a:latin typeface="Arial" panose="020B0604020202020204" pitchFamily="34" charset="0"/>
                <a:ea typeface="Arial" panose="020B0604020202020204" pitchFamily="34" charset="-122"/>
                <a:cs typeface="Arial" panose="020B0604020202020204" pitchFamily="34" charset="-120"/>
              </a:rPr>
              <a:t>PERFORMANCE</a:t>
            </a:r>
            <a:endParaRPr lang="en-US" sz="1200" dirty="0"/>
          </a:p>
        </p:txBody>
      </p:sp>
      <p:sp>
        <p:nvSpPr>
          <p:cNvPr id="3" name="Text 1"/>
          <p:cNvSpPr/>
          <p:nvPr>
            <p:ph type="title"/>
          </p:nvPr>
        </p:nvSpPr>
        <p:spPr>
          <a:xfrm>
            <a:off x="812800" y="1102364"/>
            <a:ext cx="10883392" cy="492760"/>
          </a:xfrm>
          <a:prstGeom prst="rect">
            <a:avLst/>
          </a:prstGeom>
          <a:noFill/>
        </p:spPr>
        <p:txBody>
          <a:bodyPr wrap="square" lIns="0" tIns="0" rIns="0" bIns="0" rtlCol="0" anchor="t">
            <a:normAutofit/>
          </a:bodyPr>
          <a:lstStyle/>
          <a:p>
            <a:pPr marL="0" indent="0" algn="l">
              <a:lnSpc>
                <a:spcPts val="3680"/>
              </a:lnSpc>
              <a:buNone/>
            </a:pPr>
            <a:r>
              <a:rPr lang="en-US" sz="3200" b="1" i="0" dirty="0">
                <a:solidFill>
                  <a:srgbClr val="13213A"/>
                </a:solidFill>
                <a:latin typeface="Arial" panose="020B0604020202020204" pitchFamily="34" charset="0"/>
                <a:ea typeface="Arial" panose="020B0604020202020204" pitchFamily="34" charset="-122"/>
                <a:cs typeface="Arial" panose="020B0604020202020204" pitchFamily="34" charset="-120"/>
              </a:rPr>
              <a:t>Every extra cycle is accounted for</a:t>
            </a:r>
            <a:endParaRPr lang="en-US" sz="3200" dirty="0"/>
          </a:p>
        </p:txBody>
      </p:sp>
      <p:sp>
        <p:nvSpPr>
          <p:cNvPr id="4" name="Shape 2"/>
          <p:cNvSpPr/>
          <p:nvPr/>
        </p:nvSpPr>
        <p:spPr>
          <a:xfrm>
            <a:off x="815975" y="1877696"/>
            <a:ext cx="1054021" cy="1187450"/>
          </a:xfrm>
          <a:prstGeom prst="roundRect">
            <a:avLst>
              <a:gd name="adj" fmla="val 6928"/>
            </a:avLst>
          </a:prstGeom>
          <a:solidFill>
            <a:srgbClr val="FFFFFF"/>
          </a:solidFill>
          <a:ln w="6350">
            <a:solidFill>
              <a:srgbClr val="DCE1E8"/>
            </a:solidFill>
            <a:prstDash val="solid"/>
          </a:ln>
        </p:spPr>
      </p:sp>
      <p:sp>
        <p:nvSpPr>
          <p:cNvPr id="5" name="Text 3"/>
          <p:cNvSpPr/>
          <p:nvPr/>
        </p:nvSpPr>
        <p:spPr>
          <a:xfrm>
            <a:off x="1037852" y="2032000"/>
            <a:ext cx="610267" cy="665480"/>
          </a:xfrm>
          <a:prstGeom prst="rect">
            <a:avLst/>
          </a:prstGeom>
          <a:noFill/>
        </p:spPr>
        <p:txBody>
          <a:bodyPr wrap="square" lIns="0" tIns="0" rIns="0" bIns="0" rtlCol="0" anchor="t">
            <a:normAutofit/>
          </a:bodyPr>
          <a:lstStyle/>
          <a:p>
            <a:pPr marL="0" indent="0" algn="ctr">
              <a:lnSpc>
                <a:spcPts val="5040"/>
              </a:lnSpc>
              <a:buNone/>
            </a:pPr>
            <a:r>
              <a:rPr lang="en-US" sz="3600" b="1" dirty="0">
                <a:solidFill>
                  <a:srgbClr val="13213A"/>
                </a:solidFill>
                <a:latin typeface="Arial" panose="020B0604020202020204" pitchFamily="34" charset="0"/>
                <a:ea typeface="Arial" panose="020B0604020202020204" pitchFamily="34" charset="-122"/>
                <a:cs typeface="Arial" panose="020B0604020202020204" pitchFamily="34" charset="-120"/>
              </a:rPr>
              <a:t>34</a:t>
            </a:r>
            <a:endParaRPr lang="en-US" sz="3600" dirty="0"/>
          </a:p>
        </p:txBody>
      </p:sp>
      <p:sp>
        <p:nvSpPr>
          <p:cNvPr id="6" name="Text 4"/>
          <p:cNvSpPr/>
          <p:nvPr/>
        </p:nvSpPr>
        <p:spPr>
          <a:xfrm>
            <a:off x="957580" y="2697479"/>
            <a:ext cx="909241"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3E4A5C"/>
                </a:solidFill>
                <a:latin typeface="Arial" panose="020B0604020202020204" pitchFamily="34" charset="0"/>
                <a:ea typeface="Arial" panose="020B0604020202020204" pitchFamily="34" charset="-122"/>
                <a:cs typeface="Arial" panose="020B0604020202020204" pitchFamily="34" charset="-120"/>
              </a:rPr>
              <a:t>instructions</a:t>
            </a:r>
            <a:endParaRPr lang="en-US" sz="1200" dirty="0"/>
          </a:p>
        </p:txBody>
      </p:sp>
      <p:sp>
        <p:nvSpPr>
          <p:cNvPr id="7" name="Text 5"/>
          <p:cNvSpPr/>
          <p:nvPr/>
        </p:nvSpPr>
        <p:spPr>
          <a:xfrm>
            <a:off x="2000171" y="2222500"/>
            <a:ext cx="258524" cy="523240"/>
          </a:xfrm>
          <a:prstGeom prst="rect">
            <a:avLst/>
          </a:prstGeom>
          <a:noFill/>
        </p:spPr>
        <p:txBody>
          <a:bodyPr wrap="square" lIns="0" tIns="0" rIns="0" bIns="0" rtlCol="0" anchor="t">
            <a:normAutofit/>
          </a:bodyPr>
          <a:lstStyle/>
          <a:p>
            <a:pPr marL="0" indent="0" algn="l">
              <a:lnSpc>
                <a:spcPts val="3920"/>
              </a:lnSpc>
              <a:buNone/>
            </a:pPr>
            <a:r>
              <a:rPr lang="en-US" sz="2800" dirty="0">
                <a:solidFill>
                  <a:srgbClr val="6B7686"/>
                </a:solidFill>
                <a:latin typeface="Arial" panose="020B0604020202020204" pitchFamily="34" charset="0"/>
                <a:ea typeface="Arial" panose="020B0604020202020204" pitchFamily="34" charset="-122"/>
                <a:cs typeface="Arial" panose="020B0604020202020204" pitchFamily="34" charset="-120"/>
              </a:rPr>
              <a:t>+</a:t>
            </a:r>
            <a:endParaRPr lang="en-US" sz="2800" dirty="0"/>
          </a:p>
        </p:txBody>
      </p:sp>
      <p:sp>
        <p:nvSpPr>
          <p:cNvPr id="8" name="Shape 6"/>
          <p:cNvSpPr/>
          <p:nvPr/>
        </p:nvSpPr>
        <p:spPr>
          <a:xfrm>
            <a:off x="2338070" y="1877696"/>
            <a:ext cx="994886" cy="1187450"/>
          </a:xfrm>
          <a:prstGeom prst="roundRect">
            <a:avLst>
              <a:gd name="adj" fmla="val 7340"/>
            </a:avLst>
          </a:prstGeom>
          <a:solidFill>
            <a:srgbClr val="FFFFFF"/>
          </a:solidFill>
          <a:ln w="6350">
            <a:solidFill>
              <a:srgbClr val="DCE1E8"/>
            </a:solidFill>
            <a:prstDash val="solid"/>
          </a:ln>
        </p:spPr>
      </p:sp>
      <p:sp>
        <p:nvSpPr>
          <p:cNvPr id="9" name="Text 7"/>
          <p:cNvSpPr/>
          <p:nvPr/>
        </p:nvSpPr>
        <p:spPr>
          <a:xfrm>
            <a:off x="2682923" y="2032000"/>
            <a:ext cx="305181" cy="665480"/>
          </a:xfrm>
          <a:prstGeom prst="rect">
            <a:avLst/>
          </a:prstGeom>
          <a:noFill/>
        </p:spPr>
        <p:txBody>
          <a:bodyPr wrap="square" lIns="0" tIns="0" rIns="0" bIns="0" rtlCol="0" anchor="t">
            <a:normAutofit/>
          </a:bodyPr>
          <a:lstStyle/>
          <a:p>
            <a:pPr marL="0" indent="0" algn="ctr">
              <a:lnSpc>
                <a:spcPts val="5040"/>
              </a:lnSpc>
              <a:buNone/>
            </a:pPr>
            <a:r>
              <a:rPr lang="en-US" sz="3600" b="1" dirty="0">
                <a:solidFill>
                  <a:srgbClr val="13213A"/>
                </a:solidFill>
                <a:latin typeface="Arial" panose="020B0604020202020204" pitchFamily="34" charset="0"/>
                <a:ea typeface="Arial" panose="020B0604020202020204" pitchFamily="34" charset="-122"/>
                <a:cs typeface="Arial" panose="020B0604020202020204" pitchFamily="34" charset="-120"/>
              </a:rPr>
              <a:t>4</a:t>
            </a:r>
            <a:endParaRPr lang="en-US" sz="3600" dirty="0"/>
          </a:p>
        </p:txBody>
      </p:sp>
      <p:sp>
        <p:nvSpPr>
          <p:cNvPr id="10" name="Text 8"/>
          <p:cNvSpPr/>
          <p:nvPr/>
        </p:nvSpPr>
        <p:spPr>
          <a:xfrm>
            <a:off x="2479675" y="2697479"/>
            <a:ext cx="850106"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3E4A5C"/>
                </a:solidFill>
                <a:latin typeface="Arial" panose="020B0604020202020204" pitchFamily="34" charset="0"/>
                <a:ea typeface="Arial" panose="020B0604020202020204" pitchFamily="34" charset="-122"/>
                <a:cs typeface="Arial" panose="020B0604020202020204" pitchFamily="34" charset="-120"/>
              </a:rPr>
              <a:t>pipeline fill</a:t>
            </a:r>
            <a:endParaRPr lang="en-US" sz="1200" dirty="0"/>
          </a:p>
        </p:txBody>
      </p:sp>
      <p:sp>
        <p:nvSpPr>
          <p:cNvPr id="11" name="Text 9"/>
          <p:cNvSpPr/>
          <p:nvPr/>
        </p:nvSpPr>
        <p:spPr>
          <a:xfrm>
            <a:off x="3463131" y="2222500"/>
            <a:ext cx="258524" cy="523240"/>
          </a:xfrm>
          <a:prstGeom prst="rect">
            <a:avLst/>
          </a:prstGeom>
          <a:noFill/>
        </p:spPr>
        <p:txBody>
          <a:bodyPr wrap="square" lIns="0" tIns="0" rIns="0" bIns="0" rtlCol="0" anchor="t">
            <a:normAutofit/>
          </a:bodyPr>
          <a:lstStyle/>
          <a:p>
            <a:pPr marL="0" indent="0" algn="l">
              <a:lnSpc>
                <a:spcPts val="3920"/>
              </a:lnSpc>
              <a:buNone/>
            </a:pPr>
            <a:r>
              <a:rPr lang="en-US" sz="2800" dirty="0">
                <a:solidFill>
                  <a:srgbClr val="6B7686"/>
                </a:solidFill>
                <a:latin typeface="Arial" panose="020B0604020202020204" pitchFamily="34" charset="0"/>
                <a:ea typeface="Arial" panose="020B0604020202020204" pitchFamily="34" charset="-122"/>
                <a:cs typeface="Arial" panose="020B0604020202020204" pitchFamily="34" charset="-120"/>
              </a:rPr>
              <a:t>+</a:t>
            </a:r>
            <a:endParaRPr lang="en-US" sz="2800" dirty="0"/>
          </a:p>
        </p:txBody>
      </p:sp>
      <p:sp>
        <p:nvSpPr>
          <p:cNvPr id="12" name="Shape 10"/>
          <p:cNvSpPr/>
          <p:nvPr/>
        </p:nvSpPr>
        <p:spPr>
          <a:xfrm>
            <a:off x="3801031" y="1877696"/>
            <a:ext cx="1181179" cy="1187450"/>
          </a:xfrm>
          <a:prstGeom prst="roundRect">
            <a:avLst>
              <a:gd name="adj" fmla="val 6182"/>
            </a:avLst>
          </a:prstGeom>
          <a:solidFill>
            <a:srgbClr val="FFFFFF"/>
          </a:solidFill>
          <a:ln w="6350">
            <a:solidFill>
              <a:srgbClr val="DCE1E8"/>
            </a:solidFill>
            <a:prstDash val="solid"/>
          </a:ln>
        </p:spPr>
      </p:sp>
      <p:sp>
        <p:nvSpPr>
          <p:cNvPr id="13" name="Text 11"/>
          <p:cNvSpPr/>
          <p:nvPr/>
        </p:nvSpPr>
        <p:spPr>
          <a:xfrm>
            <a:off x="4238990" y="2032000"/>
            <a:ext cx="305181" cy="665480"/>
          </a:xfrm>
          <a:prstGeom prst="rect">
            <a:avLst/>
          </a:prstGeom>
          <a:noFill/>
        </p:spPr>
        <p:txBody>
          <a:bodyPr wrap="square" lIns="0" tIns="0" rIns="0" bIns="0" rtlCol="0" anchor="t">
            <a:normAutofit/>
          </a:bodyPr>
          <a:lstStyle/>
          <a:p>
            <a:pPr marL="0" indent="0" algn="ctr">
              <a:lnSpc>
                <a:spcPts val="5040"/>
              </a:lnSpc>
              <a:buNone/>
            </a:pPr>
            <a:r>
              <a:rPr lang="en-US" sz="3600" b="1" dirty="0">
                <a:solidFill>
                  <a:srgbClr val="13213A"/>
                </a:solidFill>
                <a:latin typeface="Arial" panose="020B0604020202020204" pitchFamily="34" charset="0"/>
                <a:ea typeface="Arial" panose="020B0604020202020204" pitchFamily="34" charset="-122"/>
                <a:cs typeface="Arial" panose="020B0604020202020204" pitchFamily="34" charset="-120"/>
              </a:rPr>
              <a:t>1</a:t>
            </a:r>
            <a:endParaRPr lang="en-US" sz="3600" dirty="0"/>
          </a:p>
        </p:txBody>
      </p:sp>
      <p:sp>
        <p:nvSpPr>
          <p:cNvPr id="14" name="Text 12"/>
          <p:cNvSpPr/>
          <p:nvPr/>
        </p:nvSpPr>
        <p:spPr>
          <a:xfrm>
            <a:off x="3942636" y="2697479"/>
            <a:ext cx="1036399"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3E4A5C"/>
                </a:solidFill>
                <a:latin typeface="Arial" panose="020B0604020202020204" pitchFamily="34" charset="0"/>
                <a:ea typeface="Arial" panose="020B0604020202020204" pitchFamily="34" charset="-122"/>
                <a:cs typeface="Arial" panose="020B0604020202020204" pitchFamily="34" charset="-120"/>
              </a:rPr>
              <a:t>load-use stall</a:t>
            </a:r>
            <a:endParaRPr lang="en-US" sz="1200" dirty="0"/>
          </a:p>
        </p:txBody>
      </p:sp>
      <p:sp>
        <p:nvSpPr>
          <p:cNvPr id="15" name="Text 13"/>
          <p:cNvSpPr/>
          <p:nvPr/>
        </p:nvSpPr>
        <p:spPr>
          <a:xfrm>
            <a:off x="5112385" y="2222500"/>
            <a:ext cx="258524" cy="523240"/>
          </a:xfrm>
          <a:prstGeom prst="rect">
            <a:avLst/>
          </a:prstGeom>
          <a:noFill/>
        </p:spPr>
        <p:txBody>
          <a:bodyPr wrap="square" lIns="0" tIns="0" rIns="0" bIns="0" rtlCol="0" anchor="t">
            <a:normAutofit/>
          </a:bodyPr>
          <a:lstStyle/>
          <a:p>
            <a:pPr marL="0" indent="0" algn="l">
              <a:lnSpc>
                <a:spcPts val="3920"/>
              </a:lnSpc>
              <a:buNone/>
            </a:pPr>
            <a:r>
              <a:rPr lang="en-US" sz="2800" dirty="0">
                <a:solidFill>
                  <a:srgbClr val="6B7686"/>
                </a:solidFill>
                <a:latin typeface="Arial" panose="020B0604020202020204" pitchFamily="34" charset="0"/>
                <a:ea typeface="Arial" panose="020B0604020202020204" pitchFamily="34" charset="-122"/>
                <a:cs typeface="Arial" panose="020B0604020202020204" pitchFamily="34" charset="-120"/>
              </a:rPr>
              <a:t>+</a:t>
            </a:r>
            <a:endParaRPr lang="en-US" sz="2800" dirty="0"/>
          </a:p>
        </p:txBody>
      </p:sp>
      <p:sp>
        <p:nvSpPr>
          <p:cNvPr id="16" name="Shape 14"/>
          <p:cNvSpPr/>
          <p:nvPr/>
        </p:nvSpPr>
        <p:spPr>
          <a:xfrm>
            <a:off x="5450284" y="1877696"/>
            <a:ext cx="1325324" cy="1187450"/>
          </a:xfrm>
          <a:prstGeom prst="roundRect">
            <a:avLst>
              <a:gd name="adj" fmla="val 6150"/>
            </a:avLst>
          </a:prstGeom>
          <a:solidFill>
            <a:srgbClr val="FFFFFF"/>
          </a:solidFill>
          <a:ln w="6350">
            <a:solidFill>
              <a:srgbClr val="DCE1E8"/>
            </a:solidFill>
            <a:prstDash val="solid"/>
          </a:ln>
        </p:spPr>
      </p:sp>
      <p:sp>
        <p:nvSpPr>
          <p:cNvPr id="17" name="Text 15"/>
          <p:cNvSpPr/>
          <p:nvPr/>
        </p:nvSpPr>
        <p:spPr>
          <a:xfrm>
            <a:off x="5598081" y="2032000"/>
            <a:ext cx="1174353" cy="665480"/>
          </a:xfrm>
          <a:prstGeom prst="rect">
            <a:avLst/>
          </a:prstGeom>
          <a:noFill/>
        </p:spPr>
        <p:txBody>
          <a:bodyPr wrap="square" lIns="0" tIns="0" rIns="0" bIns="0" rtlCol="0" anchor="t">
            <a:normAutofit/>
          </a:bodyPr>
          <a:lstStyle/>
          <a:p>
            <a:pPr marL="0" indent="0" algn="l">
              <a:lnSpc>
                <a:spcPts val="5040"/>
              </a:lnSpc>
              <a:buNone/>
            </a:pPr>
            <a:r>
              <a:rPr lang="en-US" sz="3600" b="1" dirty="0">
                <a:solidFill>
                  <a:srgbClr val="13213A"/>
                </a:solidFill>
                <a:latin typeface="Arial" panose="020B0604020202020204" pitchFamily="34" charset="0"/>
                <a:ea typeface="Arial" panose="020B0604020202020204" pitchFamily="34" charset="-122"/>
                <a:cs typeface="Arial" panose="020B0604020202020204" pitchFamily="34" charset="-120"/>
              </a:rPr>
              <a:t>6 × 2</a:t>
            </a:r>
            <a:endParaRPr lang="en-US" sz="3600" dirty="0"/>
          </a:p>
        </p:txBody>
      </p:sp>
      <p:sp>
        <p:nvSpPr>
          <p:cNvPr id="18" name="Text 16"/>
          <p:cNvSpPr/>
          <p:nvPr/>
        </p:nvSpPr>
        <p:spPr>
          <a:xfrm>
            <a:off x="5591889" y="2697479"/>
            <a:ext cx="1180545"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3E4A5C"/>
                </a:solidFill>
                <a:latin typeface="Arial" panose="020B0604020202020204" pitchFamily="34" charset="0"/>
                <a:ea typeface="Arial" panose="020B0604020202020204" pitchFamily="34" charset="-122"/>
                <a:cs typeface="Arial" panose="020B0604020202020204" pitchFamily="34" charset="-120"/>
              </a:rPr>
              <a:t>taken branches</a:t>
            </a:r>
            <a:endParaRPr lang="en-US" sz="1200" dirty="0"/>
          </a:p>
        </p:txBody>
      </p:sp>
      <p:sp>
        <p:nvSpPr>
          <p:cNvPr id="19" name="Text 17"/>
          <p:cNvSpPr/>
          <p:nvPr/>
        </p:nvSpPr>
        <p:spPr>
          <a:xfrm>
            <a:off x="6905784" y="2222500"/>
            <a:ext cx="258524" cy="523240"/>
          </a:xfrm>
          <a:prstGeom prst="rect">
            <a:avLst/>
          </a:prstGeom>
          <a:noFill/>
        </p:spPr>
        <p:txBody>
          <a:bodyPr wrap="square" lIns="0" tIns="0" rIns="0" bIns="0" rtlCol="0" anchor="t">
            <a:normAutofit/>
          </a:bodyPr>
          <a:lstStyle/>
          <a:p>
            <a:pPr marL="0" indent="0" algn="l">
              <a:lnSpc>
                <a:spcPts val="3920"/>
              </a:lnSpc>
              <a:buNone/>
            </a:pPr>
            <a:r>
              <a:rPr lang="en-US" sz="2800" dirty="0">
                <a:solidFill>
                  <a:srgbClr val="6B7686"/>
                </a:solidFill>
                <a:latin typeface="Arial" panose="020B0604020202020204" pitchFamily="34" charset="0"/>
                <a:ea typeface="Arial" panose="020B0604020202020204" pitchFamily="34" charset="-122"/>
                <a:cs typeface="Arial" panose="020B0604020202020204" pitchFamily="34" charset="-120"/>
              </a:rPr>
              <a:t>=</a:t>
            </a:r>
            <a:endParaRPr lang="en-US" sz="2800" dirty="0"/>
          </a:p>
        </p:txBody>
      </p:sp>
      <p:sp>
        <p:nvSpPr>
          <p:cNvPr id="20" name="Shape 18"/>
          <p:cNvSpPr/>
          <p:nvPr/>
        </p:nvSpPr>
        <p:spPr>
          <a:xfrm>
            <a:off x="7240508" y="1879600"/>
            <a:ext cx="787956" cy="1183640"/>
          </a:xfrm>
          <a:prstGeom prst="roundRect">
            <a:avLst>
              <a:gd name="adj" fmla="val 9671"/>
            </a:avLst>
          </a:prstGeom>
          <a:solidFill>
            <a:srgbClr val="13213A"/>
          </a:solidFill>
        </p:spPr>
      </p:sp>
      <p:sp>
        <p:nvSpPr>
          <p:cNvPr id="21" name="Text 19"/>
          <p:cNvSpPr/>
          <p:nvPr/>
        </p:nvSpPr>
        <p:spPr>
          <a:xfrm>
            <a:off x="7380208" y="2032000"/>
            <a:ext cx="610267" cy="665480"/>
          </a:xfrm>
          <a:prstGeom prst="rect">
            <a:avLst/>
          </a:prstGeom>
          <a:noFill/>
        </p:spPr>
        <p:txBody>
          <a:bodyPr wrap="square" lIns="0" tIns="0" rIns="0" bIns="0" rtlCol="0" anchor="t">
            <a:normAutofit/>
          </a:bodyPr>
          <a:lstStyle/>
          <a:p>
            <a:pPr marL="0" indent="0" algn="l">
              <a:lnSpc>
                <a:spcPts val="5040"/>
              </a:lnSpc>
              <a:buNone/>
            </a:pPr>
            <a:r>
              <a:rPr lang="en-US" sz="3600" b="1" dirty="0">
                <a:solidFill>
                  <a:srgbClr val="F5F6F2"/>
                </a:solidFill>
                <a:latin typeface="Arial" panose="020B0604020202020204" pitchFamily="34" charset="0"/>
                <a:ea typeface="Arial" panose="020B0604020202020204" pitchFamily="34" charset="-122"/>
                <a:cs typeface="Arial" panose="020B0604020202020204" pitchFamily="34" charset="-120"/>
              </a:rPr>
              <a:t>51</a:t>
            </a:r>
            <a:endParaRPr lang="en-US" sz="3600" dirty="0"/>
          </a:p>
        </p:txBody>
      </p:sp>
      <p:sp>
        <p:nvSpPr>
          <p:cNvPr id="22" name="Text 20"/>
          <p:cNvSpPr/>
          <p:nvPr/>
        </p:nvSpPr>
        <p:spPr>
          <a:xfrm>
            <a:off x="7380407" y="2697479"/>
            <a:ext cx="508159" cy="238760"/>
          </a:xfrm>
          <a:prstGeom prst="rect">
            <a:avLst/>
          </a:prstGeom>
          <a:noFill/>
        </p:spPr>
        <p:txBody>
          <a:bodyPr wrap="square" lIns="0" tIns="0" rIns="0" bIns="0" rtlCol="0" anchor="t">
            <a:normAutofit/>
          </a:bodyPr>
          <a:lstStyle/>
          <a:p>
            <a:pPr marL="0" indent="0" algn="ctr">
              <a:lnSpc>
                <a:spcPts val="1680"/>
              </a:lnSpc>
              <a:buNone/>
            </a:pPr>
            <a:r>
              <a:rPr lang="en-US" sz="1200" dirty="0">
                <a:solidFill>
                  <a:srgbClr val="BFCBDA"/>
                </a:solidFill>
                <a:latin typeface="Arial" panose="020B0604020202020204" pitchFamily="34" charset="0"/>
                <a:ea typeface="Arial" panose="020B0604020202020204" pitchFamily="34" charset="-122"/>
                <a:cs typeface="Arial" panose="020B0604020202020204" pitchFamily="34" charset="-120"/>
              </a:rPr>
              <a:t>cycles</a:t>
            </a:r>
            <a:endParaRPr lang="en-US" sz="1200" dirty="0"/>
          </a:p>
        </p:txBody>
      </p:sp>
      <p:sp>
        <p:nvSpPr>
          <p:cNvPr id="23" name="Text 21"/>
          <p:cNvSpPr/>
          <p:nvPr/>
        </p:nvSpPr>
        <p:spPr>
          <a:xfrm>
            <a:off x="10485358" y="2032000"/>
            <a:ext cx="107261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CPI = 51 / 34</a:t>
            </a:r>
            <a:endParaRPr lang="en-US" sz="1200" dirty="0"/>
          </a:p>
        </p:txBody>
      </p:sp>
      <p:sp>
        <p:nvSpPr>
          <p:cNvPr id="24" name="Text 22"/>
          <p:cNvSpPr/>
          <p:nvPr/>
        </p:nvSpPr>
        <p:spPr>
          <a:xfrm>
            <a:off x="10485358" y="2270764"/>
            <a:ext cx="1072610" cy="665480"/>
          </a:xfrm>
          <a:prstGeom prst="rect">
            <a:avLst/>
          </a:prstGeom>
          <a:noFill/>
        </p:spPr>
        <p:txBody>
          <a:bodyPr wrap="square" lIns="0" tIns="0" rIns="0" bIns="0" rtlCol="0" anchor="t">
            <a:normAutofit/>
          </a:bodyPr>
          <a:lstStyle/>
          <a:p>
            <a:pPr marL="0" indent="0" algn="l">
              <a:lnSpc>
                <a:spcPts val="5040"/>
              </a:lnSpc>
              <a:buNone/>
            </a:pPr>
            <a:r>
              <a:rPr lang="en-US" sz="3600" b="1" dirty="0">
                <a:solidFill>
                  <a:srgbClr val="A9520B"/>
                </a:solidFill>
                <a:latin typeface="Arial" panose="020B0604020202020204" pitchFamily="34" charset="0"/>
                <a:ea typeface="Arial" panose="020B0604020202020204" pitchFamily="34" charset="-122"/>
                <a:cs typeface="Arial" panose="020B0604020202020204" pitchFamily="34" charset="-120"/>
              </a:rPr>
              <a:t>1.50</a:t>
            </a:r>
            <a:endParaRPr lang="en-US" sz="3600" dirty="0"/>
          </a:p>
        </p:txBody>
      </p:sp>
      <p:sp>
        <p:nvSpPr>
          <p:cNvPr id="25" name="Text 23"/>
          <p:cNvSpPr/>
          <p:nvPr/>
        </p:nvSpPr>
        <p:spPr>
          <a:xfrm>
            <a:off x="812800" y="3373121"/>
            <a:ext cx="10883392" cy="274320"/>
          </a:xfrm>
          <a:prstGeom prst="rect">
            <a:avLst/>
          </a:prstGeom>
          <a:noFill/>
        </p:spPr>
        <p:txBody>
          <a:bodyPr wrap="square" lIns="0" tIns="0" rIns="0" bIns="0" rtlCol="0" anchor="t">
            <a:normAutofit/>
          </a:bodyPr>
          <a:lstStyle/>
          <a:p>
            <a:pPr marL="0" indent="0" algn="l">
              <a:lnSpc>
                <a:spcPts val="1960"/>
              </a:lnSpc>
              <a:buNone/>
            </a:pPr>
            <a:r>
              <a:rPr lang="en-US" sz="1400" dirty="0">
                <a:solidFill>
                  <a:srgbClr val="3E4A5C"/>
                </a:solidFill>
                <a:latin typeface="Arial" panose="020B0604020202020204" pitchFamily="34" charset="0"/>
                <a:ea typeface="Arial" panose="020B0604020202020204" pitchFamily="34" charset="-122"/>
                <a:cs typeface="Arial" panose="020B0604020202020204" pitchFamily="34" charset="-120"/>
              </a:rPr>
              <a:t>Same 34 instructions, same clock:</a:t>
            </a:r>
            <a:endParaRPr lang="en-US" sz="1400" dirty="0"/>
          </a:p>
        </p:txBody>
      </p:sp>
      <p:sp>
        <p:nvSpPr>
          <p:cNvPr id="26" name="Text 24"/>
          <p:cNvSpPr/>
          <p:nvPr/>
        </p:nvSpPr>
        <p:spPr>
          <a:xfrm>
            <a:off x="812800" y="3749042"/>
            <a:ext cx="2223770" cy="48768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3E4A5C"/>
                </a:solidFill>
                <a:latin typeface="Arial" panose="020B0604020202020204" pitchFamily="34" charset="0"/>
                <a:ea typeface="Arial" panose="020B0604020202020204" pitchFamily="34" charset="-122"/>
                <a:cs typeface="Arial" panose="020B0604020202020204" pitchFamily="34" charset="-120"/>
              </a:rPr>
              <a:t>Non-pipelined (5 cycles/instr.)</a:t>
            </a:r>
            <a:endParaRPr lang="en-US" sz="1300" dirty="0"/>
          </a:p>
        </p:txBody>
      </p:sp>
      <p:sp>
        <p:nvSpPr>
          <p:cNvPr id="27" name="Shape 25"/>
          <p:cNvSpPr/>
          <p:nvPr/>
        </p:nvSpPr>
        <p:spPr>
          <a:xfrm>
            <a:off x="3124200" y="3802379"/>
            <a:ext cx="6858000" cy="355600"/>
          </a:xfrm>
          <a:prstGeom prst="roundRect">
            <a:avLst>
              <a:gd name="adj" fmla="val 10714"/>
            </a:avLst>
          </a:prstGeom>
          <a:solidFill>
            <a:srgbClr val="9AA6B6"/>
          </a:solidFill>
        </p:spPr>
      </p:sp>
      <p:sp>
        <p:nvSpPr>
          <p:cNvPr id="28" name="Text 26"/>
          <p:cNvSpPr/>
          <p:nvPr/>
        </p:nvSpPr>
        <p:spPr>
          <a:xfrm>
            <a:off x="10134600" y="3855721"/>
            <a:ext cx="356045" cy="274320"/>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13213A"/>
                </a:solidFill>
                <a:latin typeface="Arial" panose="020B0604020202020204" pitchFamily="34" charset="0"/>
                <a:ea typeface="Arial" panose="020B0604020202020204" pitchFamily="34" charset="-122"/>
                <a:cs typeface="Arial" panose="020B0604020202020204" pitchFamily="34" charset="-120"/>
              </a:rPr>
              <a:t>170</a:t>
            </a:r>
            <a:endParaRPr lang="en-US" sz="1400" dirty="0"/>
          </a:p>
        </p:txBody>
      </p:sp>
      <p:sp>
        <p:nvSpPr>
          <p:cNvPr id="29" name="Text 27"/>
          <p:cNvSpPr/>
          <p:nvPr/>
        </p:nvSpPr>
        <p:spPr>
          <a:xfrm>
            <a:off x="812800" y="4400550"/>
            <a:ext cx="2223770" cy="25654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3E4A5C"/>
                </a:solidFill>
                <a:latin typeface="Arial" panose="020B0604020202020204" pitchFamily="34" charset="0"/>
                <a:ea typeface="Arial" panose="020B0604020202020204" pitchFamily="34" charset="-122"/>
                <a:cs typeface="Arial" panose="020B0604020202020204" pitchFamily="34" charset="-120"/>
              </a:rPr>
              <a:t>This 5-stage pipeline</a:t>
            </a:r>
            <a:endParaRPr lang="en-US" sz="1300" dirty="0"/>
          </a:p>
        </p:txBody>
      </p:sp>
      <p:sp>
        <p:nvSpPr>
          <p:cNvPr id="30" name="Shape 28"/>
          <p:cNvSpPr/>
          <p:nvPr/>
        </p:nvSpPr>
        <p:spPr>
          <a:xfrm>
            <a:off x="3124200" y="4338321"/>
            <a:ext cx="2057400" cy="355600"/>
          </a:xfrm>
          <a:prstGeom prst="roundRect">
            <a:avLst>
              <a:gd name="adj" fmla="val 10714"/>
            </a:avLst>
          </a:prstGeom>
          <a:solidFill>
            <a:srgbClr val="E07A1F"/>
          </a:solidFill>
        </p:spPr>
      </p:sp>
      <p:sp>
        <p:nvSpPr>
          <p:cNvPr id="31" name="Text 29"/>
          <p:cNvSpPr/>
          <p:nvPr/>
        </p:nvSpPr>
        <p:spPr>
          <a:xfrm>
            <a:off x="5334000" y="4391664"/>
            <a:ext cx="2840355" cy="274320"/>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13213A"/>
                </a:solidFill>
                <a:latin typeface="Arial" panose="020B0604020202020204" pitchFamily="34" charset="0"/>
                <a:ea typeface="Arial" panose="020B0604020202020204" pitchFamily="34" charset="-122"/>
                <a:cs typeface="Arial" panose="020B0604020202020204" pitchFamily="34" charset="-120"/>
              </a:rPr>
              <a:t>51 cycles · about 3.3× faster</a:t>
            </a:r>
            <a:endParaRPr lang="en-US" sz="1400" dirty="0"/>
          </a:p>
        </p:txBody>
      </p:sp>
      <p:sp>
        <p:nvSpPr>
          <p:cNvPr id="32" name="Text 30"/>
          <p:cNvSpPr/>
          <p:nvPr/>
        </p:nvSpPr>
        <p:spPr>
          <a:xfrm>
            <a:off x="812800" y="6238242"/>
            <a:ext cx="588645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8-bit 5-Stage Pipelined RISC Processor</a:t>
            </a:r>
            <a:endParaRPr lang="en-US" sz="1200" dirty="0"/>
          </a:p>
        </p:txBody>
      </p:sp>
      <p:sp>
        <p:nvSpPr>
          <p:cNvPr id="33" name="Text 31"/>
          <p:cNvSpPr/>
          <p:nvPr/>
        </p:nvSpPr>
        <p:spPr>
          <a:xfrm>
            <a:off x="7454900" y="6238242"/>
            <a:ext cx="39243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Lê Kỳ Dũng · SE190745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A9520B"/>
                </a:solidFill>
                <a:latin typeface="Arial" panose="020B0604020202020204" pitchFamily="34" charset="0"/>
                <a:ea typeface="Arial" panose="020B0604020202020204" pitchFamily="34" charset="-122"/>
                <a:cs typeface="Arial" panose="020B0604020202020204" pitchFamily="34" charset="-120"/>
              </a:rPr>
              <a:t>FPGA IMPLEMENTATION · XC7A35TCPG236-1</a:t>
            </a:r>
            <a:endParaRPr lang="en-US" sz="1200" dirty="0"/>
          </a:p>
        </p:txBody>
      </p:sp>
      <p:sp>
        <p:nvSpPr>
          <p:cNvPr id="3" name="Text 1"/>
          <p:cNvSpPr/>
          <p:nvPr>
            <p:ph type="title"/>
          </p:nvPr>
        </p:nvSpPr>
        <p:spPr>
          <a:xfrm>
            <a:off x="812800" y="1102364"/>
            <a:ext cx="10883392" cy="492760"/>
          </a:xfrm>
          <a:prstGeom prst="rect">
            <a:avLst/>
          </a:prstGeom>
          <a:noFill/>
        </p:spPr>
        <p:txBody>
          <a:bodyPr wrap="square" lIns="0" tIns="0" rIns="0" bIns="0" rtlCol="0" anchor="t">
            <a:normAutofit/>
          </a:bodyPr>
          <a:lstStyle/>
          <a:p>
            <a:pPr marL="0" indent="0" algn="l">
              <a:lnSpc>
                <a:spcPts val="3680"/>
              </a:lnSpc>
              <a:buNone/>
            </a:pPr>
            <a:r>
              <a:rPr lang="en-US" sz="3200" b="1" i="0" dirty="0">
                <a:solidFill>
                  <a:srgbClr val="13213A"/>
                </a:solidFill>
                <a:latin typeface="Arial" panose="020B0604020202020204" pitchFamily="34" charset="0"/>
                <a:ea typeface="Arial" panose="020B0604020202020204" pitchFamily="34" charset="-122"/>
                <a:cs typeface="Arial" panose="020B0604020202020204" pitchFamily="34" charset="-120"/>
              </a:rPr>
              <a:t>Small, and meets 100 MHz with margin</a:t>
            </a:r>
            <a:endParaRPr lang="en-US" sz="3200" dirty="0"/>
          </a:p>
        </p:txBody>
      </p:sp>
      <p:sp>
        <p:nvSpPr>
          <p:cNvPr id="4" name="Shape 2"/>
          <p:cNvSpPr/>
          <p:nvPr/>
        </p:nvSpPr>
        <p:spPr>
          <a:xfrm>
            <a:off x="812800" y="1823721"/>
            <a:ext cx="4826000" cy="3078480"/>
          </a:xfrm>
          <a:prstGeom prst="rect">
            <a:avLst/>
          </a:prstGeom>
          <a:solidFill>
            <a:srgbClr val="FFFFFF"/>
          </a:solidFill>
        </p:spPr>
      </p:sp>
      <p:graphicFrame>
        <p:nvGraphicFramePr>
          <p:cNvPr id="5" name="Table 0"/>
          <p:cNvGraphicFramePr>
            <a:graphicFrameLocks noGrp="1"/>
          </p:cNvGraphicFramePr>
          <p:nvPr/>
        </p:nvGraphicFramePr>
        <p:xfrm>
          <a:off x="822960" y="1833881"/>
          <a:ext cx="4815840" cy="3068320"/>
        </p:xfrm>
        <a:graphic>
          <a:graphicData uri="http://schemas.openxmlformats.org/drawingml/2006/table">
            <a:tbl>
              <a:tblPr/>
              <a:tblGrid>
                <a:gridCol w="2504237"/>
                <a:gridCol w="2311603"/>
              </a:tblGrid>
              <a:tr h="383540">
                <a:tc>
                  <a:txBody>
                    <a:bodyPr/>
                    <a:lstStyle/>
                    <a:p>
                      <a:pPr marL="0" indent="0">
                        <a:lnSpc>
                          <a:spcPts val="1960"/>
                        </a:lnSpc>
                        <a:buNone/>
                      </a:pPr>
                      <a:r>
                        <a:rPr lang="en-US" sz="1400" b="1" dirty="0">
                          <a:solidFill>
                            <a:srgbClr val="1B2638"/>
                          </a:solidFill>
                          <a:latin typeface="Arial" panose="020B0604020202020204" pitchFamily="34" charset="0"/>
                          <a:ea typeface="Arial" panose="020B0604020202020204" pitchFamily="34" charset="-122"/>
                          <a:cs typeface="Arial" panose="020B0604020202020204" pitchFamily="34" charset="-120"/>
                        </a:rPr>
                        <a:t>Metric</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gn="r">
                        <a:lnSpc>
                          <a:spcPts val="1960"/>
                        </a:lnSpc>
                        <a:buNone/>
                      </a:pPr>
                      <a:r>
                        <a:rPr lang="en-US" sz="1400" b="1" dirty="0">
                          <a:solidFill>
                            <a:srgbClr val="1B2638"/>
                          </a:solidFill>
                          <a:latin typeface="Arial" panose="020B0604020202020204" pitchFamily="34" charset="0"/>
                          <a:ea typeface="Arial" panose="020B0604020202020204" pitchFamily="34" charset="-122"/>
                          <a:cs typeface="Arial" panose="020B0604020202020204" pitchFamily="34" charset="-120"/>
                        </a:rPr>
                        <a:t>Result</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83540">
                <a:tc>
                  <a:txBody>
                    <a:bodyPr/>
                    <a:lstStyle/>
                    <a:p>
                      <a:pPr marL="0" indent="0">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Slice LUTs</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240 (1.2%)</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540">
                <a:tc>
                  <a:txBody>
                    <a:bodyPr/>
                    <a:lstStyle/>
                    <a:p>
                      <a:pPr marL="0" indent="0">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Flip-flops</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186 (0.4%)</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540">
                <a:tc>
                  <a:txBody>
                    <a:bodyPr/>
                    <a:lstStyle/>
                    <a:p>
                      <a:pPr marL="0" indent="0">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Block RAM / DSP</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0 / 0</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540">
                <a:tc>
                  <a:txBody>
                    <a:bodyPr/>
                    <a:lstStyle/>
                    <a:p>
                      <a:pPr marL="0" indent="0">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WNS (setup)</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+1.747 ns</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540">
                <a:tc>
                  <a:txBody>
                    <a:bodyPr/>
                    <a:lstStyle/>
                    <a:p>
                      <a:pPr marL="0" indent="0">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WHS (hold)</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+0.040 ns</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540">
                <a:tc>
                  <a:txBody>
                    <a:bodyPr/>
                    <a:lstStyle/>
                    <a:p>
                      <a:pPr marL="0" indent="0">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Est. max clock</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9BCAD"/>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CAD"/>
                      </a:solidFill>
                      <a:prstDash val="solid"/>
                      <a:round/>
                      <a:headEnd type="none" w="med" len="med"/>
                      <a:tailEnd type="none" w="med" len="med"/>
                    </a:lnB>
                    <a:solidFill>
                      <a:srgbClr val="FCEBD9"/>
                    </a:solidFill>
                  </a:tcPr>
                </a:tc>
                <a:tc>
                  <a:txBody>
                    <a:bodyPr/>
                    <a:lstStyle/>
                    <a:p>
                      <a:pPr marL="0" indent="0" algn="r">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 121 MHz</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9BCAD"/>
                      </a:solidFill>
                      <a:prstDash val="solid"/>
                      <a:round/>
                      <a:headEnd type="none" w="med" len="med"/>
                      <a:tailEnd type="none" w="med" len="med"/>
                    </a:lnL>
                    <a:lnR w="12700" cap="flat" cmpd="sng" algn="ctr">
                      <a:solidFill>
                        <a:srgbClr val="C9BCAD"/>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CAD"/>
                      </a:solidFill>
                      <a:prstDash val="solid"/>
                      <a:round/>
                      <a:headEnd type="none" w="med" len="med"/>
                      <a:tailEnd type="none" w="med" len="med"/>
                    </a:lnB>
                    <a:solidFill>
                      <a:srgbClr val="FCEBD9"/>
                    </a:solidFill>
                  </a:tcPr>
                </a:tc>
              </a:tr>
              <a:tr h="383540">
                <a:tc>
                  <a:txBody>
                    <a:bodyPr/>
                    <a:lstStyle/>
                    <a:p>
                      <a:pPr marL="0" indent="0">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Total power</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9BCAD"/>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gn="r">
                        <a:lnSpc>
                          <a:spcPts val="1960"/>
                        </a:lnSpc>
                        <a:buNone/>
                      </a:pPr>
                      <a:r>
                        <a:rPr lang="en-US" sz="1400" dirty="0">
                          <a:solidFill>
                            <a:srgbClr val="1B2638"/>
                          </a:solidFill>
                          <a:latin typeface="Arial" panose="020B0604020202020204" pitchFamily="34" charset="0"/>
                          <a:ea typeface="Arial" panose="020B0604020202020204" pitchFamily="34" charset="-122"/>
                          <a:cs typeface="Arial" panose="020B0604020202020204" pitchFamily="34" charset="-120"/>
                        </a:rPr>
                        <a:t>0.084 W</a:t>
                      </a:r>
                      <a:endParaRPr lang="en-US" sz="1400" dirty="0">
                        <a:latin typeface="Arial" panose="020B0604020202020204" pitchFamily="34" charset="0"/>
                        <a:ea typeface="Arial" panose="020B0604020202020204" pitchFamily="34" charset="0"/>
                        <a:cs typeface="Arial" panose="020B0604020202020204" pitchFamily="34"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9BCAD"/>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Shape 3"/>
          <p:cNvSpPr/>
          <p:nvPr/>
        </p:nvSpPr>
        <p:spPr>
          <a:xfrm>
            <a:off x="5943600" y="1823721"/>
            <a:ext cx="5435600" cy="2343150"/>
          </a:xfrm>
          <a:prstGeom prst="roundRect">
            <a:avLst>
              <a:gd name="adj" fmla="val 3252"/>
            </a:avLst>
          </a:prstGeom>
          <a:solidFill>
            <a:srgbClr val="FFFFFF"/>
          </a:solidFill>
        </p:spPr>
      </p:sp>
      <p:pic>
        <p:nvPicPr>
          <p:cNvPr id="7" name="Image 0" descr="Vivado dashboard: utilization after synthesis and placement (LUT 1%, FF 1%, LUTRAM 1%, I/O 13%, BUFG 3%) and timing WNS 1.747, WHS 0.040"/>
          <p:cNvPicPr>
            <a:picLocks noChangeAspect="1"/>
          </p:cNvPicPr>
          <p:nvPr/>
        </p:nvPicPr>
        <p:blipFill>
          <a:blip r:embed="rId1"/>
          <a:srcRect l="-194" r="-194"/>
          <a:stretch>
            <a:fillRect/>
          </a:stretch>
        </p:blipFill>
        <p:spPr>
          <a:xfrm>
            <a:off x="5949950" y="1830071"/>
            <a:ext cx="5422900" cy="2330450"/>
          </a:xfrm>
          <a:prstGeom prst="roundRect">
            <a:avLst>
              <a:gd name="adj" fmla="val 2997"/>
            </a:avLst>
          </a:prstGeom>
        </p:spPr>
      </p:pic>
      <p:sp>
        <p:nvSpPr>
          <p:cNvPr id="8" name="Shape 4"/>
          <p:cNvSpPr/>
          <p:nvPr/>
        </p:nvSpPr>
        <p:spPr>
          <a:xfrm>
            <a:off x="5946775" y="1826896"/>
            <a:ext cx="5429250" cy="2336800"/>
          </a:xfrm>
          <a:prstGeom prst="roundRect">
            <a:avLst>
              <a:gd name="adj" fmla="val 3125"/>
            </a:avLst>
          </a:prstGeom>
          <a:noFill/>
          <a:ln w="6350">
            <a:solidFill>
              <a:srgbClr val="DCE1E8"/>
            </a:solidFill>
            <a:prstDash val="solid"/>
          </a:ln>
        </p:spPr>
      </p:sp>
      <p:sp>
        <p:nvSpPr>
          <p:cNvPr id="9" name="Shape 5"/>
          <p:cNvSpPr/>
          <p:nvPr/>
        </p:nvSpPr>
        <p:spPr>
          <a:xfrm>
            <a:off x="5943600" y="4293871"/>
            <a:ext cx="5435600" cy="603250"/>
          </a:xfrm>
          <a:prstGeom prst="roundRect">
            <a:avLst>
              <a:gd name="adj" fmla="val 12632"/>
            </a:avLst>
          </a:prstGeom>
          <a:solidFill>
            <a:srgbClr val="FFFFFF"/>
          </a:solidFill>
        </p:spPr>
      </p:sp>
      <p:pic>
        <p:nvPicPr>
          <p:cNvPr id="10" name="Image 1" descr="Vivado Design Runs: synth_1 and impl_1 complete, WNS 1.747, TNS 0, WHS 0.040, THS 0, total power 0.084"/>
          <p:cNvPicPr>
            <a:picLocks noChangeAspect="1"/>
          </p:cNvPicPr>
          <p:nvPr/>
        </p:nvPicPr>
        <p:blipFill>
          <a:blip r:embed="rId2"/>
          <a:stretch>
            <a:fillRect/>
          </a:stretch>
        </p:blipFill>
        <p:spPr>
          <a:xfrm>
            <a:off x="6003925" y="4300221"/>
            <a:ext cx="5314950" cy="590550"/>
          </a:xfrm>
          <a:custGeom>
            <a:avLst/>
            <a:gdLst/>
            <a:ahLst/>
            <a:cxnLst/>
            <a:rect l="l" t="t" r="r" b="b"/>
            <a:pathLst>
              <a:path w="5314950" h="590550">
                <a:moveTo>
                  <a:pt x="0" y="1828"/>
                </a:moveTo>
                <a:arcTo wR="69850" hR="69850" stAng="15411806" swAng="788194"/>
                <a:lnTo>
                  <a:pt x="5299075" y="0"/>
                </a:lnTo>
                <a:arcTo wR="69850" hR="69850" stAng="16200000" swAng="788194"/>
                <a:lnTo>
                  <a:pt x="5314950" y="588722"/>
                </a:lnTo>
                <a:arcTo wR="69850" hR="69850" stAng="4611806" swAng="788194"/>
                <a:lnTo>
                  <a:pt x="15875" y="590550"/>
                </a:lnTo>
                <a:arcTo wR="69850" hR="69850" stAng="5400000" swAng="788194"/>
                <a:close/>
              </a:path>
            </a:pathLst>
          </a:custGeom>
        </p:spPr>
      </p:pic>
      <p:sp>
        <p:nvSpPr>
          <p:cNvPr id="11" name="Shape 6"/>
          <p:cNvSpPr/>
          <p:nvPr/>
        </p:nvSpPr>
        <p:spPr>
          <a:xfrm>
            <a:off x="5946775" y="4297046"/>
            <a:ext cx="5429250" cy="596900"/>
          </a:xfrm>
          <a:prstGeom prst="roundRect">
            <a:avLst>
              <a:gd name="adj" fmla="val 12234"/>
            </a:avLst>
          </a:prstGeom>
          <a:noFill/>
          <a:ln w="6350">
            <a:solidFill>
              <a:srgbClr val="DCE1E8"/>
            </a:solidFill>
            <a:prstDash val="solid"/>
          </a:ln>
        </p:spPr>
      </p:sp>
      <p:sp>
        <p:nvSpPr>
          <p:cNvPr id="12" name="Text 7"/>
          <p:cNvSpPr/>
          <p:nvPr/>
        </p:nvSpPr>
        <p:spPr>
          <a:xfrm>
            <a:off x="5943600" y="5024121"/>
            <a:ext cx="5598668" cy="256540"/>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3E4A5C"/>
                </a:solidFill>
                <a:latin typeface="Arial" panose="020B0604020202020204" pitchFamily="34" charset="0"/>
                <a:ea typeface="Arial" panose="020B0604020202020204" pitchFamily="34" charset="-122"/>
                <a:cs typeface="Arial" panose="020B0604020202020204" pitchFamily="34" charset="-120"/>
              </a:rPr>
              <a:t>Max clock ≈ 1 / (10 − 1.747) ns ≈ 121 MHz</a:t>
            </a:r>
            <a:endParaRPr lang="en-US" sz="1300" dirty="0"/>
          </a:p>
        </p:txBody>
      </p:sp>
      <p:sp>
        <p:nvSpPr>
          <p:cNvPr id="13" name="Text 8"/>
          <p:cNvSpPr/>
          <p:nvPr/>
        </p:nvSpPr>
        <p:spPr>
          <a:xfrm>
            <a:off x="812800" y="6238242"/>
            <a:ext cx="588645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8-bit 5-Stage Pipelined RISC Processor</a:t>
            </a:r>
            <a:endParaRPr lang="en-US" sz="1200" dirty="0"/>
          </a:p>
        </p:txBody>
      </p:sp>
      <p:sp>
        <p:nvSpPr>
          <p:cNvPr id="14" name="Text 9"/>
          <p:cNvSpPr/>
          <p:nvPr/>
        </p:nvSpPr>
        <p:spPr>
          <a:xfrm>
            <a:off x="7454900" y="6238242"/>
            <a:ext cx="39243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Lê Kỳ Dũng · SE190745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6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A9520B"/>
                </a:solidFill>
                <a:latin typeface="Arial" panose="020B0604020202020204" pitchFamily="34" charset="0"/>
                <a:ea typeface="Arial" panose="020B0604020202020204" pitchFamily="34" charset="-122"/>
                <a:cs typeface="Arial" panose="020B0604020202020204" pitchFamily="34" charset="-120"/>
              </a:rPr>
              <a:t>CONCLUSION</a:t>
            </a:r>
            <a:endParaRPr lang="en-US" sz="1200" dirty="0"/>
          </a:p>
        </p:txBody>
      </p:sp>
      <p:sp>
        <p:nvSpPr>
          <p:cNvPr id="3" name="Text 1"/>
          <p:cNvSpPr/>
          <p:nvPr>
            <p:ph type="title"/>
          </p:nvPr>
        </p:nvSpPr>
        <p:spPr>
          <a:xfrm>
            <a:off x="812800" y="1102364"/>
            <a:ext cx="10883392" cy="492760"/>
          </a:xfrm>
          <a:prstGeom prst="rect">
            <a:avLst/>
          </a:prstGeom>
          <a:noFill/>
        </p:spPr>
        <p:txBody>
          <a:bodyPr wrap="square" lIns="0" tIns="0" rIns="0" bIns="0" rtlCol="0" anchor="t">
            <a:normAutofit/>
          </a:bodyPr>
          <a:lstStyle/>
          <a:p>
            <a:pPr marL="0" indent="0" algn="l">
              <a:lnSpc>
                <a:spcPts val="3680"/>
              </a:lnSpc>
              <a:buNone/>
            </a:pPr>
            <a:r>
              <a:rPr lang="en-US" sz="3200" b="1" i="0" dirty="0">
                <a:solidFill>
                  <a:srgbClr val="13213A"/>
                </a:solidFill>
                <a:latin typeface="Arial" panose="020B0604020202020204" pitchFamily="34" charset="0"/>
                <a:ea typeface="Arial" panose="020B0604020202020204" pitchFamily="34" charset="-122"/>
                <a:cs typeface="Arial" panose="020B0604020202020204" pitchFamily="34" charset="-120"/>
              </a:rPr>
              <a:t>What was achieved, and what comes next</a:t>
            </a:r>
            <a:endParaRPr lang="en-US" sz="3200" dirty="0"/>
          </a:p>
        </p:txBody>
      </p:sp>
      <p:sp>
        <p:nvSpPr>
          <p:cNvPr id="4" name="Shape 2"/>
          <p:cNvSpPr/>
          <p:nvPr/>
        </p:nvSpPr>
        <p:spPr>
          <a:xfrm>
            <a:off x="815975" y="1877696"/>
            <a:ext cx="5149850" cy="2708910"/>
          </a:xfrm>
          <a:prstGeom prst="roundRect">
            <a:avLst>
              <a:gd name="adj" fmla="val 2696"/>
            </a:avLst>
          </a:prstGeom>
          <a:solidFill>
            <a:srgbClr val="FFFFFF"/>
          </a:solidFill>
          <a:ln w="6350">
            <a:solidFill>
              <a:srgbClr val="DCE1E8"/>
            </a:solidFill>
            <a:prstDash val="solid"/>
          </a:ln>
        </p:spPr>
      </p:sp>
      <p:sp>
        <p:nvSpPr>
          <p:cNvPr id="5" name="Text 3"/>
          <p:cNvSpPr/>
          <p:nvPr/>
        </p:nvSpPr>
        <p:spPr>
          <a:xfrm>
            <a:off x="1097280" y="2159000"/>
            <a:ext cx="4724857" cy="330200"/>
          </a:xfrm>
          <a:prstGeom prst="rect">
            <a:avLst/>
          </a:prstGeom>
          <a:noFill/>
        </p:spPr>
        <p:txBody>
          <a:bodyPr wrap="square" lIns="0" tIns="0" rIns="0" bIns="0" rtlCol="0" anchor="t">
            <a:normAutofit/>
          </a:bodyPr>
          <a:lstStyle/>
          <a:p>
            <a:pPr marL="0" indent="0" algn="l">
              <a:lnSpc>
                <a:spcPts val="2400"/>
              </a:lnSpc>
              <a:buNone/>
            </a:pPr>
            <a:r>
              <a:rPr lang="en-US" sz="2000" b="1" dirty="0">
                <a:solidFill>
                  <a:srgbClr val="13213A"/>
                </a:solidFill>
                <a:latin typeface="Arial" panose="020B0604020202020204" pitchFamily="34" charset="0"/>
                <a:ea typeface="Arial" panose="020B0604020202020204" pitchFamily="34" charset="-122"/>
                <a:cs typeface="Arial" panose="020B0604020202020204" pitchFamily="34" charset="-120"/>
              </a:rPr>
              <a:t>Achieved</a:t>
            </a:r>
            <a:endParaRPr lang="en-US" sz="2000" dirty="0"/>
          </a:p>
        </p:txBody>
      </p:sp>
      <p:sp>
        <p:nvSpPr>
          <p:cNvPr id="6" name="Text 4"/>
          <p:cNvSpPr/>
          <p:nvPr/>
        </p:nvSpPr>
        <p:spPr>
          <a:xfrm>
            <a:off x="1181100" y="2590800"/>
            <a:ext cx="4633417" cy="1739900"/>
          </a:xfrm>
          <a:prstGeom prst="rect">
            <a:avLst/>
          </a:prstGeom>
          <a:noFill/>
        </p:spPr>
        <p:txBody>
          <a:bodyPr wrap="square" lIns="0" tIns="0" rIns="0" bIns="0" rtlCol="0" anchor="t">
            <a:normAutofit/>
          </a:bodyPr>
          <a:lstStyle/>
          <a:p>
            <a:pPr marL="170180" indent="-170180" algn="l">
              <a:lnSpc>
                <a:spcPts val="2250"/>
              </a:lnSpc>
              <a:buSzPct val="100000"/>
              <a:buChar char="•"/>
            </a:pPr>
            <a:r>
              <a:rPr lang="en-US" sz="1500" dirty="0">
                <a:solidFill>
                  <a:srgbClr val="3E4A5C"/>
                </a:solidFill>
                <a:latin typeface="Arial" panose="020B0604020202020204" pitchFamily="34" charset="0"/>
                <a:ea typeface="Arial" panose="020B0604020202020204" pitchFamily="34" charset="-122"/>
                <a:cs typeface="Arial" panose="020B0604020202020204" pitchFamily="34" charset="-120"/>
              </a:rPr>
              <a:t>Working 5-stage pipeline, 16 instructions, in Verilog</a:t>
            </a:r>
            <a:endParaRPr lang="en-US" sz="1500" dirty="0"/>
          </a:p>
          <a:p>
            <a:pPr marL="170180" indent="-170180" algn="l">
              <a:lnSpc>
                <a:spcPts val="2250"/>
              </a:lnSpc>
              <a:buSzPct val="100000"/>
              <a:buChar char="•"/>
            </a:pPr>
            <a:r>
              <a:rPr lang="en-US" sz="1500" dirty="0">
                <a:solidFill>
                  <a:srgbClr val="3E4A5C"/>
                </a:solidFill>
                <a:latin typeface="Arial" panose="020B0604020202020204" pitchFamily="34" charset="0"/>
                <a:ea typeface="Arial" panose="020B0604020202020204" pitchFamily="34" charset="-122"/>
                <a:cs typeface="Arial" panose="020B0604020202020204" pitchFamily="34" charset="-120"/>
              </a:rPr>
              <a:t>All hazards handled: forwarding, 1-cycle stall, 2-cycle flush</a:t>
            </a:r>
            <a:endParaRPr lang="en-US" sz="1500" dirty="0"/>
          </a:p>
          <a:p>
            <a:pPr marL="170180" indent="-170180" algn="l">
              <a:lnSpc>
                <a:spcPts val="2250"/>
              </a:lnSpc>
              <a:buSzPct val="100000"/>
              <a:buChar char="•"/>
            </a:pPr>
            <a:r>
              <a:rPr lang="en-US" sz="1500" dirty="0">
                <a:solidFill>
                  <a:srgbClr val="3E4A5C"/>
                </a:solidFill>
                <a:latin typeface="Arial" panose="020B0604020202020204" pitchFamily="34" charset="0"/>
                <a:ea typeface="Arial" panose="020B0604020202020204" pitchFamily="34" charset="-122"/>
                <a:cs typeface="Arial" panose="020B0604020202020204" pitchFamily="34" charset="-120"/>
              </a:rPr>
              <a:t>Self-checking test: 9 / 9 PASS, CPI 1.50</a:t>
            </a:r>
            <a:endParaRPr lang="en-US" sz="1500" dirty="0"/>
          </a:p>
          <a:p>
            <a:pPr marL="170180" indent="-170180" algn="l">
              <a:lnSpc>
                <a:spcPts val="2250"/>
              </a:lnSpc>
              <a:buSzPct val="100000"/>
              <a:buChar char="•"/>
            </a:pPr>
            <a:r>
              <a:rPr lang="en-US" sz="1500" dirty="0">
                <a:solidFill>
                  <a:srgbClr val="3E4A5C"/>
                </a:solidFill>
                <a:latin typeface="Arial" panose="020B0604020202020204" pitchFamily="34" charset="0"/>
                <a:ea typeface="Arial" panose="020B0604020202020204" pitchFamily="34" charset="-122"/>
                <a:cs typeface="Arial" panose="020B0604020202020204" pitchFamily="34" charset="-120"/>
              </a:rPr>
              <a:t>240 LUTs, 186 FFs, timing met at 100 MHz (≈ 121 MHz max)</a:t>
            </a:r>
            <a:endParaRPr lang="en-US" sz="1500" dirty="0"/>
          </a:p>
        </p:txBody>
      </p:sp>
      <p:sp>
        <p:nvSpPr>
          <p:cNvPr id="7" name="Shape 5"/>
          <p:cNvSpPr/>
          <p:nvPr/>
        </p:nvSpPr>
        <p:spPr>
          <a:xfrm>
            <a:off x="6226175" y="1877696"/>
            <a:ext cx="5149850" cy="2708910"/>
          </a:xfrm>
          <a:prstGeom prst="roundRect">
            <a:avLst>
              <a:gd name="adj" fmla="val 2696"/>
            </a:avLst>
          </a:prstGeom>
          <a:solidFill>
            <a:srgbClr val="FFFFFF"/>
          </a:solidFill>
          <a:ln w="6350">
            <a:solidFill>
              <a:srgbClr val="DCE1E8"/>
            </a:solidFill>
            <a:prstDash val="solid"/>
          </a:ln>
        </p:spPr>
      </p:sp>
      <p:sp>
        <p:nvSpPr>
          <p:cNvPr id="8" name="Text 6"/>
          <p:cNvSpPr/>
          <p:nvPr/>
        </p:nvSpPr>
        <p:spPr>
          <a:xfrm>
            <a:off x="6507480" y="2159000"/>
            <a:ext cx="4724857" cy="330200"/>
          </a:xfrm>
          <a:prstGeom prst="rect">
            <a:avLst/>
          </a:prstGeom>
          <a:noFill/>
        </p:spPr>
        <p:txBody>
          <a:bodyPr wrap="square" lIns="0" tIns="0" rIns="0" bIns="0" rtlCol="0" anchor="t">
            <a:normAutofit/>
          </a:bodyPr>
          <a:lstStyle/>
          <a:p>
            <a:pPr marL="0" indent="0" algn="l">
              <a:lnSpc>
                <a:spcPts val="2400"/>
              </a:lnSpc>
              <a:buNone/>
            </a:pPr>
            <a:r>
              <a:rPr lang="en-US" sz="2000" b="1" dirty="0">
                <a:solidFill>
                  <a:srgbClr val="13213A"/>
                </a:solidFill>
                <a:latin typeface="Arial" panose="020B0604020202020204" pitchFamily="34" charset="0"/>
                <a:ea typeface="Arial" panose="020B0604020202020204" pitchFamily="34" charset="-122"/>
                <a:cs typeface="Arial" panose="020B0604020202020204" pitchFamily="34" charset="-120"/>
              </a:rPr>
              <a:t>Future work</a:t>
            </a:r>
            <a:endParaRPr lang="en-US" sz="2000" dirty="0"/>
          </a:p>
        </p:txBody>
      </p:sp>
      <p:sp>
        <p:nvSpPr>
          <p:cNvPr id="9" name="Text 7"/>
          <p:cNvSpPr/>
          <p:nvPr/>
        </p:nvSpPr>
        <p:spPr>
          <a:xfrm>
            <a:off x="6591300" y="2590800"/>
            <a:ext cx="4633417" cy="1168400"/>
          </a:xfrm>
          <a:prstGeom prst="rect">
            <a:avLst/>
          </a:prstGeom>
          <a:noFill/>
        </p:spPr>
        <p:txBody>
          <a:bodyPr wrap="square" lIns="0" tIns="0" rIns="0" bIns="0" rtlCol="0" anchor="t">
            <a:normAutofit/>
          </a:bodyPr>
          <a:lstStyle/>
          <a:p>
            <a:pPr marL="170180" indent="-170180" algn="l">
              <a:lnSpc>
                <a:spcPts val="2250"/>
              </a:lnSpc>
              <a:buSzPct val="100000"/>
              <a:buChar char="•"/>
            </a:pPr>
            <a:r>
              <a:rPr lang="en-US" sz="1500" dirty="0">
                <a:solidFill>
                  <a:srgbClr val="3E4A5C"/>
                </a:solidFill>
                <a:latin typeface="Arial" panose="020B0604020202020204" pitchFamily="34" charset="0"/>
                <a:ea typeface="Arial" panose="020B0604020202020204" pitchFamily="34" charset="-122"/>
                <a:cs typeface="Arial" panose="020B0604020202020204" pitchFamily="34" charset="-120"/>
              </a:rPr>
              <a:t>Resolve branches earlier or add branch prediction</a:t>
            </a:r>
            <a:endParaRPr lang="en-US" sz="1500" dirty="0"/>
          </a:p>
          <a:p>
            <a:pPr marL="170180" indent="-170180" algn="l">
              <a:lnSpc>
                <a:spcPts val="2250"/>
              </a:lnSpc>
              <a:buSzPct val="100000"/>
              <a:buChar char="•"/>
            </a:pPr>
            <a:r>
              <a:rPr lang="en-US" sz="1500" dirty="0">
                <a:solidFill>
                  <a:srgbClr val="3E4A5C"/>
                </a:solidFill>
                <a:latin typeface="Arial" panose="020B0604020202020204" pitchFamily="34" charset="0"/>
                <a:ea typeface="Arial" panose="020B0604020202020204" pitchFamily="34" charset="-122"/>
                <a:cs typeface="Arial" panose="020B0604020202020204" pitchFamily="34" charset="-120"/>
              </a:rPr>
              <a:t>Add CALL / RET, a stack and memory-mapped I/O</a:t>
            </a:r>
            <a:endParaRPr lang="en-US" sz="1500" dirty="0"/>
          </a:p>
          <a:p>
            <a:pPr marL="170180" indent="-170180" algn="l">
              <a:lnSpc>
                <a:spcPts val="2250"/>
              </a:lnSpc>
              <a:buSzPct val="100000"/>
              <a:buChar char="•"/>
            </a:pPr>
            <a:r>
              <a:rPr lang="en-US" sz="1500" dirty="0">
                <a:solidFill>
                  <a:srgbClr val="3E4A5C"/>
                </a:solidFill>
                <a:latin typeface="Arial" panose="020B0604020202020204" pitchFamily="34" charset="0"/>
                <a:ea typeface="Arial" panose="020B0604020202020204" pitchFamily="34" charset="-122"/>
                <a:cs typeface="Arial" panose="020B0604020202020204" pitchFamily="34" charset="-120"/>
              </a:rPr>
              <a:t>Load programs from a .hex file instead of the ROM</a:t>
            </a:r>
            <a:endParaRPr lang="en-US" sz="1500" dirty="0"/>
          </a:p>
          <a:p>
            <a:pPr marL="170180" indent="-170180" algn="l">
              <a:lnSpc>
                <a:spcPts val="2250"/>
              </a:lnSpc>
              <a:buSzPct val="100000"/>
              <a:buChar char="•"/>
            </a:pPr>
            <a:r>
              <a:rPr lang="en-US" sz="1500" dirty="0">
                <a:solidFill>
                  <a:srgbClr val="3E4A5C"/>
                </a:solidFill>
                <a:latin typeface="Arial" panose="020B0604020202020204" pitchFamily="34" charset="0"/>
                <a:ea typeface="Arial" panose="020B0604020202020204" pitchFamily="34" charset="-122"/>
                <a:cs typeface="Arial" panose="020B0604020202020204" pitchFamily="34" charset="-120"/>
              </a:rPr>
              <a:t>Run the core on a real FPGA board</a:t>
            </a:r>
            <a:endParaRPr lang="en-US" sz="1500" dirty="0"/>
          </a:p>
        </p:txBody>
      </p:sp>
      <p:sp>
        <p:nvSpPr>
          <p:cNvPr id="10" name="Text 8"/>
          <p:cNvSpPr/>
          <p:nvPr/>
        </p:nvSpPr>
        <p:spPr>
          <a:xfrm>
            <a:off x="812800" y="6238242"/>
            <a:ext cx="5886450" cy="23876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8-bit 5-Stage Pipelined RISC Processor</a:t>
            </a:r>
            <a:endParaRPr lang="en-US" sz="1200" dirty="0"/>
          </a:p>
        </p:txBody>
      </p:sp>
      <p:sp>
        <p:nvSpPr>
          <p:cNvPr id="11" name="Text 9"/>
          <p:cNvSpPr/>
          <p:nvPr/>
        </p:nvSpPr>
        <p:spPr>
          <a:xfrm>
            <a:off x="7454900" y="6238242"/>
            <a:ext cx="3924300" cy="23876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6B7686"/>
                </a:solidFill>
                <a:latin typeface="Arial" panose="020B0604020202020204" pitchFamily="34" charset="0"/>
                <a:ea typeface="Arial" panose="020B0604020202020204" pitchFamily="34" charset="-122"/>
                <a:cs typeface="Arial" panose="020B0604020202020204" pitchFamily="34" charset="-120"/>
              </a:rPr>
              <a:t>Lê Kỳ Dũng · SE190745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3213A"/>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07A1F"/>
          </a:solidFill>
        </p:spPr>
      </p:sp>
      <p:sp>
        <p:nvSpPr>
          <p:cNvPr id="3" name="Text 1"/>
          <p:cNvSpPr/>
          <p:nvPr>
            <p:ph type="title"/>
          </p:nvPr>
        </p:nvSpPr>
        <p:spPr>
          <a:xfrm>
            <a:off x="812800" y="2419350"/>
            <a:ext cx="10883392" cy="825500"/>
          </a:xfrm>
          <a:prstGeom prst="rect">
            <a:avLst/>
          </a:prstGeom>
          <a:noFill/>
        </p:spPr>
        <p:txBody>
          <a:bodyPr wrap="square" lIns="0" tIns="0" rIns="0" bIns="0" rtlCol="0" anchor="t">
            <a:normAutofit/>
          </a:bodyPr>
          <a:lstStyle/>
          <a:p>
            <a:pPr marL="0" indent="0" algn="l">
              <a:lnSpc>
                <a:spcPts val="6300"/>
              </a:lnSpc>
              <a:buNone/>
            </a:pPr>
            <a:r>
              <a:rPr lang="en-US" sz="6000" b="1" i="0" dirty="0">
                <a:solidFill>
                  <a:srgbClr val="F5F6F2"/>
                </a:solidFill>
                <a:latin typeface="Arial" panose="020B0604020202020204" pitchFamily="34" charset="0"/>
                <a:ea typeface="Arial" panose="020B0604020202020204" pitchFamily="34" charset="-122"/>
                <a:cs typeface="Arial" panose="020B0604020202020204" pitchFamily="34" charset="-120"/>
              </a:rPr>
              <a:t>Thank you</a:t>
            </a:r>
            <a:endParaRPr lang="en-US" sz="6000" dirty="0"/>
          </a:p>
        </p:txBody>
      </p:sp>
      <p:sp>
        <p:nvSpPr>
          <p:cNvPr id="4" name="Text 2"/>
          <p:cNvSpPr/>
          <p:nvPr/>
        </p:nvSpPr>
        <p:spPr>
          <a:xfrm>
            <a:off x="812800" y="3473450"/>
            <a:ext cx="10883392" cy="452120"/>
          </a:xfrm>
          <a:prstGeom prst="rect">
            <a:avLst/>
          </a:prstGeom>
          <a:noFill/>
        </p:spPr>
        <p:txBody>
          <a:bodyPr wrap="square" lIns="0" tIns="0" rIns="0" bIns="0" rtlCol="0" anchor="t">
            <a:normAutofit/>
          </a:bodyPr>
          <a:lstStyle/>
          <a:p>
            <a:pPr marL="0" indent="0" algn="l">
              <a:lnSpc>
                <a:spcPts val="3360"/>
              </a:lnSpc>
              <a:buNone/>
            </a:pPr>
            <a:endParaRPr lang="en-US" sz="2400" dirty="0"/>
          </a:p>
        </p:txBody>
      </p:sp>
      <p:sp>
        <p:nvSpPr>
          <p:cNvPr id="5" name="Text 3"/>
          <p:cNvSpPr/>
          <p:nvPr/>
        </p:nvSpPr>
        <p:spPr>
          <a:xfrm>
            <a:off x="812800" y="4154171"/>
            <a:ext cx="10883392" cy="309880"/>
          </a:xfrm>
          <a:prstGeom prst="rect">
            <a:avLst/>
          </a:prstGeom>
          <a:noFill/>
        </p:spPr>
        <p:txBody>
          <a:bodyPr wrap="square" lIns="0" tIns="0" rIns="0" bIns="0" rtlCol="0" anchor="t">
            <a:normAutofit/>
          </a:bodyPr>
          <a:lstStyle/>
          <a:p>
            <a:pPr marL="0" indent="0" algn="l">
              <a:lnSpc>
                <a:spcPts val="2240"/>
              </a:lnSpc>
              <a:buNone/>
            </a:pPr>
            <a:r>
              <a:rPr lang="en-US" sz="1600" dirty="0">
                <a:solidFill>
                  <a:srgbClr val="BFCBDA"/>
                </a:solidFill>
                <a:latin typeface="Arial" panose="020B0604020202020204" pitchFamily="34" charset="0"/>
                <a:ea typeface="Arial" panose="020B0604020202020204" pitchFamily="34" charset="-122"/>
                <a:cs typeface="Arial" panose="020B0604020202020204" pitchFamily="34" charset="-120"/>
              </a:rPr>
              <a:t>Lê Kỳ Dũng · SE190745</a:t>
            </a:r>
            <a:endParaRPr lang="en-US" sz="1600" dirty="0"/>
          </a:p>
        </p:txBody>
      </p:sp>
    </p:spTree>
  </p:cSld>
  <p:clrMapOvr>
    <a:masterClrMapping/>
  </p:clrMapOvr>
</p:sld>
</file>

<file path=ppt/theme/theme1.xml><?xml version="1.0" encoding="utf-8"?>
<a:theme xmlns:a="http://schemas.openxmlformats.org/drawingml/2006/main" name="RISC8 5-Stage Pipelined Processor">
  <a:themeElements>
    <a:clrScheme name="RISC8 5-Stage Pipelined Processor">
      <a:dk1>
        <a:srgbClr val="13213A"/>
      </a:dk1>
      <a:lt1>
        <a:srgbClr val="F5F6F2"/>
      </a:lt1>
      <a:dk2>
        <a:srgbClr val="4C5668"/>
      </a:dk2>
      <a:lt2>
        <a:srgbClr val="DEE1E0"/>
      </a:lt2>
      <a:accent1>
        <a:srgbClr val="A9520B"/>
      </a:accent1>
      <a:accent2>
        <a:srgbClr val="FCF3CF"/>
      </a:accent2>
      <a:accent3>
        <a:srgbClr val="F2A65A"/>
      </a:accent3>
      <a:accent4>
        <a:srgbClr val="E07A1F"/>
      </a:accent4>
      <a:accent5>
        <a:srgbClr val="8FA1B8"/>
      </a:accent5>
      <a:accent6>
        <a:srgbClr val="9CC3EE"/>
      </a:accent6>
      <a:hlink>
        <a:srgbClr val="0563C1"/>
      </a:hlink>
      <a:folHlink>
        <a:srgbClr val="954F72"/>
      </a:folHlink>
    </a:clrScheme>
    <a:fontScheme name="RISC8 5-Stage Pipelined Processo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ISC8 5-Stage Pipelined Processor">
  <a:themeElements>
    <a:clrScheme name="RISC8 5-Stage Pipelined Processor">
      <a:dk1>
        <a:srgbClr val="13213A"/>
      </a:dk1>
      <a:lt1>
        <a:srgbClr val="F5F6F2"/>
      </a:lt1>
      <a:dk2>
        <a:srgbClr val="4C5668"/>
      </a:dk2>
      <a:lt2>
        <a:srgbClr val="DEE1E0"/>
      </a:lt2>
      <a:accent1>
        <a:srgbClr val="A9520B"/>
      </a:accent1>
      <a:accent2>
        <a:srgbClr val="FCF3CF"/>
      </a:accent2>
      <a:accent3>
        <a:srgbClr val="F2A65A"/>
      </a:accent3>
      <a:accent4>
        <a:srgbClr val="E07A1F"/>
      </a:accent4>
      <a:accent5>
        <a:srgbClr val="8FA1B8"/>
      </a:accent5>
      <a:accent6>
        <a:srgbClr val="9CC3EE"/>
      </a:accent6>
      <a:hlink>
        <a:srgbClr val="0563C1"/>
      </a:hlink>
      <a:folHlink>
        <a:srgbClr val="954F72"/>
      </a:folHlink>
    </a:clrScheme>
    <a:fontScheme name="RISC8 5-Stage Pipelined Processo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5408</Words>
  <Application>WPS Presentation</Application>
  <PresentationFormat>On-screen Show (16:9)</PresentationFormat>
  <Paragraphs>575</Paragraphs>
  <Slides>15</Slides>
  <Notes>15</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15</vt:i4>
      </vt:variant>
    </vt:vector>
  </HeadingPairs>
  <TitlesOfParts>
    <vt:vector size="27" baseType="lpstr">
      <vt:lpstr>Arial</vt:lpstr>
      <vt:lpstr>SimSun</vt:lpstr>
      <vt:lpstr>Wingdings</vt:lpstr>
      <vt:lpstr>Arial</vt:lpstr>
      <vt:lpstr>Arial</vt:lpstr>
      <vt:lpstr>Courier New</vt:lpstr>
      <vt:lpstr>Courier New</vt:lpstr>
      <vt:lpstr>Courier New</vt:lpstr>
      <vt:lpstr>Microsoft YaHei</vt:lpstr>
      <vt:lpstr>Arial Unicode MS</vt:lpstr>
      <vt:lpstr>Calibri</vt:lpstr>
      <vt:lpstr>RISC8 5-Stage Pipelined Processor</vt:lpstr>
      <vt:lpstr>Design and Verification of an 8-bit 5-Stage Pipelined RISC Processor</vt:lpstr>
      <vt:lpstr>The project at a glance</vt:lpstr>
      <vt:lpstr>Five stages, five instructions in flight</vt:lpstr>
      <vt:lpstr>16 instructions, one 16-bit format family</vt:lpstr>
      <vt:lpstr>The pipelined datapath</vt:lpstr>
      <vt:lpstr>Seven modules, one top level</vt:lpstr>
      <vt:lpstr>Forwarding: pass the result straight back</vt:lpstr>
      <vt:lpstr>Load-use: wait exactly one cycle</vt:lpstr>
      <vt:lpstr>Taken branch: flush two wrong instructions</vt:lpstr>
      <vt:lpstr>Self-checking testbench: all checks pass</vt:lpstr>
      <vt:lpstr>The waveform tells the same story</vt:lpstr>
      <vt:lpstr>Every extra cycle is accounted for</vt:lpstr>
      <vt:lpstr>Small, and meets 100 MHz with margin</vt:lpstr>
      <vt:lpstr>What was achieved, and what comes next</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RISC8 5-Stage Pipelined Processor</dc:title>
  <dc:creator/>
  <cp:lastModifiedBy>PC</cp:lastModifiedBy>
  <cp:revision>2</cp:revision>
  <dcterms:created xsi:type="dcterms:W3CDTF">2026-10-22T13:58:00Z</dcterms:created>
  <dcterms:modified xsi:type="dcterms:W3CDTF">2026-10-22T13:59:18Z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B269E2119651467A8E24D75D1CBFF2F2_12</vt:lpwstr>
  </property>
  <property fmtid="{D5CDD505-2E9C-101B-9397-08002B2CF9AE}" pid="3" name="KSOProductBuildVer">
    <vt:lpwstr>1033-12.1.0.29162</vt:lpwstr>
  </property>
</Properties>
</file>